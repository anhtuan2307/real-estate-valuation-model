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59" r:id="rId5"/>
    <p:sldId id="260" r:id="rId6"/>
    <p:sldId id="261" r:id="rId7"/>
    <p:sldId id="265" r:id="rId8"/>
    <p:sldId id="262" r:id="rId9"/>
    <p:sldId id="263" r:id="rId10"/>
    <p:sldId id="264" r:id="rId1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9F8BAB-EAE1-77E1-406B-AE0343103168}" v="418" dt="2025-03-30T18:43:40.576"/>
    <p1510:client id="{EF3E89FE-1B18-7837-DFE5-E67ECF483963}" v="19" dt="2025-03-31T06:44:57.9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5" d="100"/>
          <a:sy n="85" d="100"/>
        </p:scale>
        <p:origin x="3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3/30/2025</a:t>
            </a:fld>
            <a:endParaRPr lang="en-US" dirty="0"/>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683393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3/30/2025</a:t>
            </a:fld>
            <a:endParaRPr lang="en-US" dirty="0"/>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3131344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3/30/2025</a:t>
            </a:fld>
            <a:endParaRPr lang="en-US" dirty="0"/>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642802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3/30/2025</a:t>
            </a:fld>
            <a:endParaRPr lang="en-US" dirty="0"/>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944394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3/30/2025</a:t>
            </a:fld>
            <a:endParaRPr lang="en-US" dirty="0"/>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978876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dirty="0"/>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3/30/2025</a:t>
            </a:fld>
            <a:endParaRPr lang="en-US" dirty="0"/>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60034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3/30/2025</a:t>
            </a:fld>
            <a:endParaRPr lang="en-US" dirty="0"/>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1605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3/30/2025</a:t>
            </a:fld>
            <a:endParaRPr lang="en-US" dirty="0"/>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429954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5105400" y="838200"/>
            <a:ext cx="6249988" cy="51815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FigureOut">
              <a:rPr lang="en-US" dirty="0"/>
              <a:t>3/30/2025</a:t>
            </a:fld>
            <a:endParaRPr lang="en-US" dirty="0"/>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2110596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dirty="0"/>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3/30/2025</a:t>
            </a:fld>
            <a:endParaRPr lang="en-US" dirty="0"/>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691838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3/30/2025</a:t>
            </a:fld>
            <a:endParaRPr lang="en-US" dirty="0"/>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62243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FigureOut">
              <a:rPr lang="en-US" dirty="0"/>
              <a:t>3/30/2025</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dirty="0"/>
              <a:t>‹#›</a:t>
            </a:fld>
            <a:endParaRPr lang="en-US" dirty="0"/>
          </a:p>
        </p:txBody>
      </p:sp>
    </p:spTree>
    <p:extLst>
      <p:ext uri="{BB962C8B-B14F-4D97-AF65-F5344CB8AC3E}">
        <p14:creationId xmlns:p14="http://schemas.microsoft.com/office/powerpoint/2010/main" val="111667430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p15:clr>
            <a:srgbClr val="F26B43"/>
          </p15:clr>
        </p15:guide>
        <p15:guide id="19" orient="horz" pos="2160">
          <p15:clr>
            <a:srgbClr val="F26B43"/>
          </p15:clr>
        </p15:guide>
        <p15:guide id="20"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ctrTitle"/>
          </p:nvPr>
        </p:nvSpPr>
        <p:spPr>
          <a:xfrm>
            <a:off x="-11652" y="-1320"/>
            <a:ext cx="8132227" cy="3559859"/>
          </a:xfrm>
        </p:spPr>
        <p:txBody>
          <a:bodyPr/>
          <a:lstStyle/>
          <a:p>
            <a:r>
              <a:rPr lang="vi-VN" dirty="0" err="1">
                <a:latin typeface="Times New Roman"/>
                <a:cs typeface="Times New Roman"/>
              </a:rPr>
              <a:t>Housing</a:t>
            </a:r>
            <a:r>
              <a:rPr lang="vi-VN" dirty="0">
                <a:latin typeface="Times New Roman"/>
                <a:cs typeface="Times New Roman"/>
              </a:rPr>
              <a:t> </a:t>
            </a:r>
            <a:r>
              <a:rPr lang="vi-VN" dirty="0" err="1">
                <a:latin typeface="Times New Roman"/>
                <a:cs typeface="Times New Roman"/>
              </a:rPr>
              <a:t>Price</a:t>
            </a:r>
            <a:r>
              <a:rPr lang="vi-VN" dirty="0">
                <a:latin typeface="Times New Roman"/>
                <a:cs typeface="Times New Roman"/>
              </a:rPr>
              <a:t> </a:t>
            </a:r>
            <a:r>
              <a:rPr lang="vi-VN" dirty="0" err="1">
                <a:latin typeface="Times New Roman"/>
                <a:cs typeface="Times New Roman"/>
              </a:rPr>
              <a:t>Prediction</a:t>
            </a:r>
            <a:endParaRPr lang="vi-VN" dirty="0" err="1"/>
          </a:p>
        </p:txBody>
      </p:sp>
      <p:sp>
        <p:nvSpPr>
          <p:cNvPr id="3" name="Tiêu đề phụ 2"/>
          <p:cNvSpPr>
            <a:spLocks noGrp="1"/>
          </p:cNvSpPr>
          <p:nvPr>
            <p:ph type="subTitle" idx="1"/>
          </p:nvPr>
        </p:nvSpPr>
        <p:spPr>
          <a:xfrm>
            <a:off x="-2732" y="905036"/>
            <a:ext cx="8132227" cy="1350484"/>
          </a:xfrm>
        </p:spPr>
        <p:txBody>
          <a:bodyPr vert="horz" lIns="91440" tIns="45720" rIns="91440" bIns="45720" rtlCol="0" anchor="t">
            <a:noAutofit/>
          </a:bodyPr>
          <a:lstStyle/>
          <a:p>
            <a:r>
              <a:rPr lang="vi-VN" sz="1400" dirty="0" err="1">
                <a:latin typeface="Arial"/>
                <a:cs typeface="Arial"/>
              </a:rPr>
              <a:t>Student</a:t>
            </a:r>
            <a:r>
              <a:rPr lang="vi-VN" sz="1400" dirty="0">
                <a:latin typeface="Arial"/>
                <a:cs typeface="Arial"/>
              </a:rPr>
              <a:t> </a:t>
            </a:r>
            <a:r>
              <a:rPr lang="vi-VN" sz="1400" dirty="0" err="1">
                <a:latin typeface="Arial"/>
                <a:cs typeface="Arial"/>
              </a:rPr>
              <a:t>Name</a:t>
            </a:r>
            <a:r>
              <a:rPr lang="vi-VN" sz="1400" dirty="0">
                <a:latin typeface="Arial"/>
                <a:cs typeface="Arial"/>
              </a:rPr>
              <a:t>: </a:t>
            </a:r>
            <a:r>
              <a:rPr lang="vi-VN" sz="1400" dirty="0" err="1">
                <a:latin typeface="Arial"/>
                <a:cs typeface="Arial"/>
              </a:rPr>
              <a:t>Doan</a:t>
            </a:r>
            <a:r>
              <a:rPr lang="vi-VN" sz="1400" dirty="0">
                <a:latin typeface="Arial"/>
                <a:cs typeface="Arial"/>
              </a:rPr>
              <a:t> </a:t>
            </a:r>
            <a:r>
              <a:rPr lang="vi-VN" sz="1400" dirty="0" err="1">
                <a:latin typeface="Arial"/>
                <a:cs typeface="Arial"/>
              </a:rPr>
              <a:t>Phuong</a:t>
            </a:r>
            <a:r>
              <a:rPr lang="vi-VN" sz="1400" dirty="0">
                <a:latin typeface="Arial"/>
                <a:cs typeface="Arial"/>
              </a:rPr>
              <a:t> Anh </a:t>
            </a:r>
            <a:r>
              <a:rPr lang="vi-VN" sz="1400" dirty="0" err="1">
                <a:latin typeface="Arial"/>
                <a:cs typeface="Arial"/>
              </a:rPr>
              <a:t>Tuan</a:t>
            </a:r>
            <a:endParaRPr lang="vi-VN" sz="1400" dirty="0">
              <a:latin typeface="Arial"/>
              <a:cs typeface="Arial"/>
            </a:endParaRPr>
          </a:p>
          <a:p>
            <a:r>
              <a:rPr lang="vi-VN" sz="1400" err="1">
                <a:latin typeface="Arial"/>
                <a:cs typeface="Arial"/>
              </a:rPr>
              <a:t>Student</a:t>
            </a:r>
            <a:r>
              <a:rPr lang="vi-VN" sz="1400" dirty="0">
                <a:latin typeface="Arial"/>
                <a:cs typeface="Arial"/>
              </a:rPr>
              <a:t> ID: 105000184</a:t>
            </a:r>
          </a:p>
          <a:p>
            <a:endParaRPr lang="vi-VN" sz="1400" dirty="0">
              <a:latin typeface="Arial"/>
              <a:cs typeface="Arial"/>
            </a:endParaRPr>
          </a:p>
          <a:p>
            <a:r>
              <a:rPr lang="vi-VN" sz="4400" b="1" dirty="0">
                <a:latin typeface="Times New Roman"/>
                <a:cs typeface="Times New Roman"/>
              </a:rPr>
              <a:t>Project </a:t>
            </a:r>
            <a:r>
              <a:rPr lang="vi-VN" sz="4400" b="1" dirty="0" err="1">
                <a:latin typeface="Times New Roman"/>
                <a:cs typeface="Times New Roman"/>
              </a:rPr>
              <a:t>Overview</a:t>
            </a:r>
            <a:endParaRPr lang="vi-VN" sz="4400" dirty="0" err="1">
              <a:solidFill>
                <a:srgbClr val="000000"/>
              </a:solidFill>
              <a:latin typeface="Times New Roman"/>
              <a:cs typeface="Times New Roman"/>
            </a:endParaRPr>
          </a:p>
          <a:p>
            <a:r>
              <a:rPr lang="vi-VN" sz="1400" dirty="0">
                <a:latin typeface="Arial"/>
                <a:cs typeface="Arial"/>
              </a:rPr>
              <a:t>-The </a:t>
            </a:r>
            <a:r>
              <a:rPr lang="vi-VN" sz="1400" err="1">
                <a:latin typeface="Arial"/>
                <a:cs typeface="Arial"/>
              </a:rPr>
              <a:t>goal</a:t>
            </a:r>
            <a:r>
              <a:rPr lang="vi-VN" sz="1400" dirty="0">
                <a:latin typeface="Arial"/>
                <a:cs typeface="Arial"/>
              </a:rPr>
              <a:t> </a:t>
            </a:r>
            <a:r>
              <a:rPr lang="vi-VN" sz="1400" err="1">
                <a:latin typeface="Arial"/>
                <a:cs typeface="Arial"/>
              </a:rPr>
              <a:t>is</a:t>
            </a:r>
            <a:r>
              <a:rPr lang="vi-VN" sz="1400" dirty="0">
                <a:latin typeface="Arial"/>
                <a:cs typeface="Arial"/>
              </a:rPr>
              <a:t> to </a:t>
            </a:r>
            <a:r>
              <a:rPr lang="vi-VN" sz="1400" err="1">
                <a:latin typeface="Arial"/>
                <a:cs typeface="Arial"/>
              </a:rPr>
              <a:t>predict</a:t>
            </a:r>
            <a:r>
              <a:rPr lang="vi-VN" sz="1400" dirty="0">
                <a:latin typeface="Arial"/>
                <a:cs typeface="Arial"/>
              </a:rPr>
              <a:t> </a:t>
            </a:r>
            <a:r>
              <a:rPr lang="vi-VN" sz="1400" err="1">
                <a:latin typeface="Arial"/>
                <a:cs typeface="Arial"/>
              </a:rPr>
              <a:t>house</a:t>
            </a:r>
            <a:r>
              <a:rPr lang="vi-VN" sz="1400" dirty="0">
                <a:latin typeface="Arial"/>
                <a:cs typeface="Arial"/>
              </a:rPr>
              <a:t> </a:t>
            </a:r>
            <a:r>
              <a:rPr lang="vi-VN" sz="1400" err="1">
                <a:latin typeface="Arial"/>
                <a:cs typeface="Arial"/>
              </a:rPr>
              <a:t>prices</a:t>
            </a:r>
            <a:r>
              <a:rPr lang="vi-VN" sz="1400" dirty="0">
                <a:latin typeface="Arial"/>
                <a:cs typeface="Arial"/>
              </a:rPr>
              <a:t>.</a:t>
            </a:r>
            <a:endParaRPr lang="en-US" sz="1400" dirty="0">
              <a:latin typeface="Arial"/>
              <a:cs typeface="Arial"/>
            </a:endParaRPr>
          </a:p>
          <a:p>
            <a:r>
              <a:rPr lang="vi-VN" sz="1400" dirty="0">
                <a:latin typeface="Arial"/>
                <a:cs typeface="Arial"/>
              </a:rPr>
              <a:t>-</a:t>
            </a:r>
            <a:r>
              <a:rPr lang="vi-VN" sz="1400" err="1">
                <a:latin typeface="Arial"/>
                <a:cs typeface="Arial"/>
              </a:rPr>
              <a:t>Implemented</a:t>
            </a:r>
            <a:r>
              <a:rPr lang="vi-VN" sz="1400" dirty="0">
                <a:latin typeface="Arial"/>
                <a:cs typeface="Arial"/>
              </a:rPr>
              <a:t> an </a:t>
            </a:r>
            <a:r>
              <a:rPr lang="vi-VN" sz="1400" err="1">
                <a:latin typeface="Arial"/>
                <a:cs typeface="Arial"/>
              </a:rPr>
              <a:t>Artificial</a:t>
            </a:r>
            <a:r>
              <a:rPr lang="vi-VN" sz="1400" dirty="0">
                <a:latin typeface="Arial"/>
                <a:cs typeface="Arial"/>
              </a:rPr>
              <a:t> </a:t>
            </a:r>
            <a:r>
              <a:rPr lang="vi-VN" sz="1400" err="1">
                <a:latin typeface="Arial"/>
                <a:cs typeface="Arial"/>
              </a:rPr>
              <a:t>Neural</a:t>
            </a:r>
            <a:r>
              <a:rPr lang="vi-VN" sz="1400" dirty="0">
                <a:latin typeface="Arial"/>
                <a:cs typeface="Arial"/>
              </a:rPr>
              <a:t> </a:t>
            </a:r>
            <a:r>
              <a:rPr lang="vi-VN" sz="1400" err="1">
                <a:latin typeface="Arial"/>
                <a:cs typeface="Arial"/>
              </a:rPr>
              <a:t>Network</a:t>
            </a:r>
            <a:r>
              <a:rPr lang="vi-VN" sz="1400" dirty="0">
                <a:latin typeface="Arial"/>
                <a:cs typeface="Arial"/>
              </a:rPr>
              <a:t> (ANN) </a:t>
            </a:r>
            <a:r>
              <a:rPr lang="vi-VN" sz="1400" err="1">
                <a:latin typeface="Arial"/>
                <a:cs typeface="Arial"/>
              </a:rPr>
              <a:t>with</a:t>
            </a:r>
            <a:r>
              <a:rPr lang="vi-VN" sz="1400" dirty="0">
                <a:latin typeface="Arial"/>
                <a:cs typeface="Arial"/>
              </a:rPr>
              <a:t> </a:t>
            </a:r>
            <a:r>
              <a:rPr lang="vi-VN" sz="1400" err="1">
                <a:latin typeface="Arial"/>
                <a:cs typeface="Arial"/>
              </a:rPr>
              <a:t>Keras</a:t>
            </a:r>
            <a:r>
              <a:rPr lang="vi-VN" sz="1400" dirty="0">
                <a:latin typeface="Arial"/>
                <a:cs typeface="Arial"/>
              </a:rPr>
              <a:t>.</a:t>
            </a:r>
            <a:endParaRPr lang="en-US" sz="1400" dirty="0">
              <a:latin typeface="Arial"/>
              <a:cs typeface="Arial"/>
            </a:endParaRPr>
          </a:p>
          <a:p>
            <a:r>
              <a:rPr lang="vi-VN" sz="1400" dirty="0">
                <a:latin typeface="Arial"/>
                <a:cs typeface="Arial"/>
              </a:rPr>
              <a:t>-</a:t>
            </a:r>
            <a:r>
              <a:rPr lang="vi-VN" sz="1400" err="1">
                <a:latin typeface="Arial"/>
                <a:cs typeface="Arial"/>
              </a:rPr>
              <a:t>Built</a:t>
            </a:r>
            <a:r>
              <a:rPr lang="vi-VN" sz="1400" dirty="0">
                <a:latin typeface="Arial"/>
                <a:cs typeface="Arial"/>
              </a:rPr>
              <a:t> a </a:t>
            </a:r>
            <a:r>
              <a:rPr lang="vi-VN" sz="1400" err="1">
                <a:latin typeface="Arial"/>
                <a:cs typeface="Arial"/>
              </a:rPr>
              <a:t>Flask</a:t>
            </a:r>
            <a:r>
              <a:rPr lang="vi-VN" sz="1400" dirty="0">
                <a:latin typeface="Arial"/>
                <a:cs typeface="Arial"/>
              </a:rPr>
              <a:t> </a:t>
            </a:r>
            <a:r>
              <a:rPr lang="vi-VN" sz="1400" err="1">
                <a:latin typeface="Arial"/>
                <a:cs typeface="Arial"/>
              </a:rPr>
              <a:t>web</a:t>
            </a:r>
            <a:r>
              <a:rPr lang="vi-VN" sz="1400" dirty="0">
                <a:latin typeface="Arial"/>
                <a:cs typeface="Arial"/>
              </a:rPr>
              <a:t> </a:t>
            </a:r>
            <a:r>
              <a:rPr lang="vi-VN" sz="1400" err="1">
                <a:latin typeface="Arial"/>
                <a:cs typeface="Arial"/>
              </a:rPr>
              <a:t>application</a:t>
            </a:r>
            <a:r>
              <a:rPr lang="vi-VN" sz="1400" dirty="0">
                <a:latin typeface="Arial"/>
                <a:cs typeface="Arial"/>
              </a:rPr>
              <a:t> </a:t>
            </a:r>
            <a:r>
              <a:rPr lang="vi-VN" sz="1400" err="1">
                <a:latin typeface="Arial"/>
                <a:cs typeface="Arial"/>
              </a:rPr>
              <a:t>for</a:t>
            </a:r>
            <a:r>
              <a:rPr lang="vi-VN" sz="1400" dirty="0">
                <a:latin typeface="Arial"/>
                <a:cs typeface="Arial"/>
              </a:rPr>
              <a:t> </a:t>
            </a:r>
            <a:r>
              <a:rPr lang="vi-VN" sz="1400" err="1">
                <a:latin typeface="Arial"/>
                <a:cs typeface="Arial"/>
              </a:rPr>
              <a:t>user-friendly</a:t>
            </a:r>
            <a:r>
              <a:rPr lang="vi-VN" sz="1400" dirty="0">
                <a:latin typeface="Arial"/>
                <a:cs typeface="Arial"/>
              </a:rPr>
              <a:t> </a:t>
            </a:r>
            <a:r>
              <a:rPr lang="vi-VN" sz="1400" err="1">
                <a:latin typeface="Arial"/>
                <a:cs typeface="Arial"/>
              </a:rPr>
              <a:t>predictions</a:t>
            </a:r>
            <a:r>
              <a:rPr lang="vi-VN" sz="1400" dirty="0">
                <a:latin typeface="Arial"/>
                <a:cs typeface="Arial"/>
              </a:rPr>
              <a:t>.</a:t>
            </a:r>
            <a:endParaRPr lang="en-US" sz="1400">
              <a:latin typeface="Arial"/>
              <a:cs typeface="Arial"/>
            </a:endParaRPr>
          </a:p>
          <a:p>
            <a:r>
              <a:rPr lang="vi-VN" sz="1400" dirty="0">
                <a:latin typeface="Arial"/>
                <a:cs typeface="Arial"/>
              </a:rPr>
              <a:t>-</a:t>
            </a:r>
            <a:r>
              <a:rPr lang="vi-VN" sz="1400" err="1">
                <a:latin typeface="Arial"/>
                <a:cs typeface="Arial"/>
              </a:rPr>
              <a:t>Dataset</a:t>
            </a:r>
            <a:r>
              <a:rPr lang="vi-VN" sz="1400" dirty="0">
                <a:latin typeface="Arial"/>
                <a:cs typeface="Arial"/>
              </a:rPr>
              <a:t> </a:t>
            </a:r>
            <a:r>
              <a:rPr lang="vi-VN" sz="1400" err="1">
                <a:latin typeface="Arial"/>
                <a:cs typeface="Arial"/>
              </a:rPr>
              <a:t>contains</a:t>
            </a:r>
            <a:r>
              <a:rPr lang="vi-VN" sz="1400" dirty="0">
                <a:latin typeface="Arial"/>
                <a:cs typeface="Arial"/>
              </a:rPr>
              <a:t> </a:t>
            </a:r>
            <a:r>
              <a:rPr lang="vi-VN" sz="1400" err="1">
                <a:latin typeface="Arial"/>
                <a:cs typeface="Arial"/>
              </a:rPr>
              <a:t>information</a:t>
            </a:r>
            <a:r>
              <a:rPr lang="vi-VN" sz="1400" dirty="0">
                <a:latin typeface="Arial"/>
                <a:cs typeface="Arial"/>
              </a:rPr>
              <a:t> </a:t>
            </a:r>
            <a:r>
              <a:rPr lang="vi-VN" sz="1400" err="1">
                <a:latin typeface="Arial"/>
                <a:cs typeface="Arial"/>
              </a:rPr>
              <a:t>on</a:t>
            </a:r>
            <a:r>
              <a:rPr lang="vi-VN" sz="1400" dirty="0">
                <a:latin typeface="Arial"/>
                <a:cs typeface="Arial"/>
              </a:rPr>
              <a:t> </a:t>
            </a:r>
            <a:r>
              <a:rPr lang="vi-VN" sz="1400" err="1">
                <a:latin typeface="Arial"/>
                <a:cs typeface="Arial"/>
              </a:rPr>
              <a:t>house</a:t>
            </a:r>
            <a:r>
              <a:rPr lang="vi-VN" sz="1400" dirty="0">
                <a:latin typeface="Arial"/>
                <a:cs typeface="Arial"/>
              </a:rPr>
              <a:t> </a:t>
            </a:r>
            <a:r>
              <a:rPr lang="vi-VN" sz="1400" err="1">
                <a:latin typeface="Arial"/>
                <a:cs typeface="Arial"/>
              </a:rPr>
              <a:t>sales</a:t>
            </a:r>
            <a:r>
              <a:rPr lang="vi-VN" sz="1400" dirty="0">
                <a:latin typeface="Arial"/>
                <a:cs typeface="Arial"/>
              </a:rPr>
              <a:t> in </a:t>
            </a:r>
            <a:r>
              <a:rPr lang="vi-VN" sz="1400" err="1">
                <a:latin typeface="Arial"/>
                <a:cs typeface="Arial"/>
              </a:rPr>
              <a:t>King</a:t>
            </a:r>
            <a:r>
              <a:rPr lang="vi-VN" sz="1400" dirty="0">
                <a:latin typeface="Arial"/>
                <a:cs typeface="Arial"/>
              </a:rPr>
              <a:t> </a:t>
            </a:r>
            <a:r>
              <a:rPr lang="vi-VN" sz="1400" err="1">
                <a:latin typeface="Arial"/>
                <a:cs typeface="Arial"/>
              </a:rPr>
              <a:t>County</a:t>
            </a:r>
            <a:r>
              <a:rPr lang="vi-VN" sz="1400" dirty="0">
                <a:latin typeface="Arial"/>
                <a:cs typeface="Arial"/>
              </a:rPr>
              <a:t>, </a:t>
            </a:r>
            <a:r>
              <a:rPr lang="vi-VN" sz="1400" err="1">
                <a:latin typeface="Arial"/>
                <a:cs typeface="Arial"/>
              </a:rPr>
              <a:t>Washington</a:t>
            </a:r>
            <a:r>
              <a:rPr lang="vi-VN" sz="1400" dirty="0">
                <a:latin typeface="Arial"/>
                <a:cs typeface="Arial"/>
              </a:rPr>
              <a:t>, USA, </a:t>
            </a:r>
            <a:r>
              <a:rPr lang="vi-VN" sz="1400" err="1">
                <a:latin typeface="Arial"/>
                <a:cs typeface="Arial"/>
              </a:rPr>
              <a:t>including</a:t>
            </a:r>
            <a:r>
              <a:rPr lang="vi-VN" sz="1400" dirty="0">
                <a:latin typeface="Arial"/>
                <a:cs typeface="Arial"/>
              </a:rPr>
              <a:t> </a:t>
            </a:r>
            <a:r>
              <a:rPr lang="vi-VN" sz="1400" err="1">
                <a:latin typeface="Arial"/>
                <a:cs typeface="Arial"/>
              </a:rPr>
              <a:t>Seattle</a:t>
            </a:r>
            <a:r>
              <a:rPr lang="vi-VN" sz="1400" dirty="0">
                <a:latin typeface="Arial"/>
                <a:cs typeface="Arial"/>
              </a:rPr>
              <a:t>, </a:t>
            </a:r>
            <a:r>
              <a:rPr lang="vi-VN" sz="1400" err="1">
                <a:latin typeface="Arial"/>
                <a:cs typeface="Arial"/>
              </a:rPr>
              <a:t>covering</a:t>
            </a:r>
            <a:r>
              <a:rPr lang="vi-VN" sz="1400" dirty="0">
                <a:latin typeface="Arial"/>
                <a:cs typeface="Arial"/>
              </a:rPr>
              <a:t> </a:t>
            </a:r>
            <a:r>
              <a:rPr lang="vi-VN" sz="1400" err="1">
                <a:latin typeface="Arial"/>
                <a:cs typeface="Arial"/>
              </a:rPr>
              <a:t>homes</a:t>
            </a:r>
            <a:r>
              <a:rPr lang="vi-VN" sz="1400" dirty="0">
                <a:latin typeface="Arial"/>
                <a:cs typeface="Arial"/>
              </a:rPr>
              <a:t> </a:t>
            </a:r>
            <a:r>
              <a:rPr lang="vi-VN" sz="1400" err="1">
                <a:latin typeface="Arial"/>
                <a:cs typeface="Arial"/>
              </a:rPr>
              <a:t>sold</a:t>
            </a:r>
            <a:r>
              <a:rPr lang="vi-VN" sz="1400" dirty="0">
                <a:latin typeface="Arial"/>
                <a:cs typeface="Arial"/>
              </a:rPr>
              <a:t> </a:t>
            </a:r>
            <a:r>
              <a:rPr lang="vi-VN" sz="1400" err="1">
                <a:latin typeface="Arial"/>
                <a:cs typeface="Arial"/>
              </a:rPr>
              <a:t>between</a:t>
            </a:r>
            <a:r>
              <a:rPr lang="vi-VN" sz="1400" dirty="0">
                <a:latin typeface="Arial"/>
                <a:cs typeface="Arial"/>
              </a:rPr>
              <a:t> May 2014 </a:t>
            </a:r>
            <a:r>
              <a:rPr lang="vi-VN" sz="1400" err="1">
                <a:latin typeface="Arial"/>
                <a:cs typeface="Arial"/>
              </a:rPr>
              <a:t>and</a:t>
            </a:r>
            <a:r>
              <a:rPr lang="vi-VN" sz="1400" dirty="0">
                <a:latin typeface="Arial"/>
                <a:cs typeface="Arial"/>
              </a:rPr>
              <a:t> May 2015.</a:t>
            </a:r>
            <a:endParaRPr lang="en-US" sz="1400">
              <a:latin typeface="Neue Haas Grotesk Text Pro"/>
              <a:cs typeface="Arial"/>
            </a:endParaRPr>
          </a:p>
          <a:p>
            <a:endParaRPr lang="vi-VN" dirty="0">
              <a:latin typeface="Arial"/>
              <a:cs typeface="Arial"/>
            </a:endParaRPr>
          </a:p>
          <a:p>
            <a:endParaRPr lang="vi-VN" dirty="0">
              <a:latin typeface="Arial"/>
              <a:cs typeface="Arial"/>
            </a:endParaRPr>
          </a:p>
        </p:txBody>
      </p:sp>
    </p:spTree>
    <p:extLst>
      <p:ext uri="{BB962C8B-B14F-4D97-AF65-F5344CB8AC3E}">
        <p14:creationId xmlns:p14="http://schemas.microsoft.com/office/powerpoint/2010/main" val="2567927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2F5F8F3-B78D-3A11-6EBC-3C2EE2A78E4A}"/>
              </a:ext>
            </a:extLst>
          </p:cNvPr>
          <p:cNvSpPr>
            <a:spLocks noGrp="1"/>
          </p:cNvSpPr>
          <p:nvPr>
            <p:ph type="title"/>
          </p:nvPr>
        </p:nvSpPr>
        <p:spPr>
          <a:xfrm>
            <a:off x="174978" y="-1764"/>
            <a:ext cx="10600268" cy="1332618"/>
          </a:xfrm>
        </p:spPr>
        <p:txBody>
          <a:bodyPr>
            <a:normAutofit/>
          </a:bodyPr>
          <a:lstStyle/>
          <a:p>
            <a:r>
              <a:rPr lang="vi-VN" b="1" dirty="0" err="1">
                <a:latin typeface="Times New Roman"/>
                <a:ea typeface="+mj-lt"/>
                <a:cs typeface="Times New Roman"/>
              </a:rPr>
              <a:t>Dataset</a:t>
            </a:r>
            <a:r>
              <a:rPr lang="vi-VN" b="1" dirty="0">
                <a:latin typeface="Times New Roman"/>
                <a:ea typeface="+mj-lt"/>
                <a:cs typeface="Times New Roman"/>
              </a:rPr>
              <a:t> </a:t>
            </a:r>
            <a:r>
              <a:rPr lang="vi-VN" b="1" dirty="0" err="1">
                <a:latin typeface="Times New Roman"/>
                <a:ea typeface="+mj-lt"/>
                <a:cs typeface="Times New Roman"/>
              </a:rPr>
              <a:t>and</a:t>
            </a:r>
            <a:r>
              <a:rPr lang="vi-VN" b="1" dirty="0">
                <a:latin typeface="Times New Roman"/>
                <a:ea typeface="+mj-lt"/>
                <a:cs typeface="Times New Roman"/>
              </a:rPr>
              <a:t> </a:t>
            </a:r>
            <a:r>
              <a:rPr lang="vi-VN" b="1" dirty="0" err="1">
                <a:latin typeface="Times New Roman"/>
                <a:ea typeface="+mj-lt"/>
                <a:cs typeface="Times New Roman"/>
              </a:rPr>
              <a:t>Data</a:t>
            </a:r>
            <a:r>
              <a:rPr lang="vi-VN" b="1" dirty="0">
                <a:latin typeface="Times New Roman"/>
                <a:ea typeface="+mj-lt"/>
                <a:cs typeface="Times New Roman"/>
              </a:rPr>
              <a:t> </a:t>
            </a:r>
            <a:r>
              <a:rPr lang="vi-VN" err="1">
                <a:latin typeface="Times New Roman"/>
                <a:ea typeface="+mj-lt"/>
                <a:cs typeface="Times New Roman"/>
              </a:rPr>
              <a:t>Preprocessing</a:t>
            </a:r>
          </a:p>
          <a:p>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97421716-3D88-0FFE-7D7E-8CF203FC353B}"/>
              </a:ext>
            </a:extLst>
          </p:cNvPr>
          <p:cNvSpPr>
            <a:spLocks noGrp="1"/>
          </p:cNvSpPr>
          <p:nvPr>
            <p:ph idx="1"/>
          </p:nvPr>
        </p:nvSpPr>
        <p:spPr>
          <a:xfrm>
            <a:off x="175260" y="668233"/>
            <a:ext cx="10310989" cy="5600170"/>
          </a:xfrm>
        </p:spPr>
        <p:txBody>
          <a:bodyPr vert="horz" lIns="91440" tIns="45720" rIns="91440" bIns="45720" rtlCol="0" anchor="t">
            <a:normAutofit/>
          </a:bodyPr>
          <a:lstStyle/>
          <a:p>
            <a:pPr marL="0" indent="0">
              <a:buNone/>
            </a:pPr>
            <a:r>
              <a:rPr lang="vi-VN" dirty="0">
                <a:latin typeface="Arial"/>
                <a:ea typeface="+mn-lt"/>
                <a:cs typeface="Arial"/>
              </a:rPr>
              <a:t>-</a:t>
            </a:r>
            <a:r>
              <a:rPr lang="vi-VN" err="1">
                <a:latin typeface="Arial"/>
                <a:ea typeface="+mn-lt"/>
                <a:cs typeface="Arial"/>
              </a:rPr>
              <a:t>Data</a:t>
            </a:r>
            <a:r>
              <a:rPr lang="vi-VN" dirty="0">
                <a:latin typeface="Arial"/>
                <a:ea typeface="+mn-lt"/>
                <a:cs typeface="Arial"/>
              </a:rPr>
              <a:t> </a:t>
            </a:r>
            <a:r>
              <a:rPr lang="vi-VN">
                <a:latin typeface="Arial"/>
                <a:ea typeface="+mn-lt"/>
                <a:cs typeface="Arial"/>
              </a:rPr>
              <a:t>prices from </a:t>
            </a:r>
            <a:r>
              <a:rPr lang="vi-VN" dirty="0">
                <a:latin typeface="Arial"/>
                <a:ea typeface="+mn-lt"/>
                <a:cs typeface="Arial"/>
              </a:rPr>
              <a:t>King</a:t>
            </a:r>
            <a:r>
              <a:rPr lang="vi-VN">
                <a:latin typeface="Arial"/>
                <a:ea typeface="+mn-lt"/>
                <a:cs typeface="Arial"/>
              </a:rPr>
              <a:t> County, </a:t>
            </a:r>
            <a:r>
              <a:rPr lang="vi-VN" err="1">
                <a:latin typeface="Arial"/>
                <a:ea typeface="+mn-lt"/>
                <a:cs typeface="Arial"/>
              </a:rPr>
              <a:t>includes</a:t>
            </a:r>
            <a:r>
              <a:rPr lang="vi-VN">
                <a:latin typeface="Arial"/>
                <a:ea typeface="+mn-lt"/>
                <a:cs typeface="Arial"/>
              </a:rPr>
              <a:t> </a:t>
            </a:r>
            <a:r>
              <a:rPr lang="vi-VN" err="1">
                <a:latin typeface="Arial"/>
                <a:ea typeface="+mn-lt"/>
                <a:cs typeface="Arial"/>
              </a:rPr>
              <a:t>features</a:t>
            </a:r>
            <a:r>
              <a:rPr lang="vi-VN">
                <a:latin typeface="Arial"/>
                <a:ea typeface="+mn-lt"/>
                <a:cs typeface="Arial"/>
              </a:rPr>
              <a:t> </a:t>
            </a:r>
            <a:r>
              <a:rPr lang="vi-VN" err="1">
                <a:latin typeface="Arial"/>
                <a:ea typeface="+mn-lt"/>
                <a:cs typeface="Arial"/>
              </a:rPr>
              <a:t>such</a:t>
            </a:r>
            <a:r>
              <a:rPr lang="vi-VN">
                <a:latin typeface="Arial"/>
                <a:ea typeface="+mn-lt"/>
                <a:cs typeface="Arial"/>
              </a:rPr>
              <a:t> </a:t>
            </a:r>
            <a:r>
              <a:rPr lang="vi-VN" err="1">
                <a:latin typeface="Arial"/>
                <a:ea typeface="+mn-lt"/>
                <a:cs typeface="Arial"/>
              </a:rPr>
              <a:t>as</a:t>
            </a:r>
            <a:r>
              <a:rPr lang="vi-VN" dirty="0">
                <a:latin typeface="Arial"/>
                <a:ea typeface="+mn-lt"/>
                <a:cs typeface="Arial"/>
              </a:rPr>
              <a:t> </a:t>
            </a:r>
            <a:r>
              <a:rPr lang="vi-VN" err="1">
                <a:latin typeface="Arial"/>
                <a:ea typeface="+mn-lt"/>
                <a:cs typeface="Arial"/>
              </a:rPr>
              <a:t>square</a:t>
            </a:r>
            <a:r>
              <a:rPr lang="vi-VN">
                <a:latin typeface="Arial"/>
                <a:ea typeface="+mn-lt"/>
                <a:cs typeface="Arial"/>
              </a:rPr>
              <a:t> </a:t>
            </a:r>
            <a:r>
              <a:rPr lang="vi-VN" err="1">
                <a:latin typeface="Arial"/>
                <a:ea typeface="+mn-lt"/>
                <a:cs typeface="Arial"/>
              </a:rPr>
              <a:t>footage</a:t>
            </a:r>
            <a:r>
              <a:rPr lang="vi-VN">
                <a:latin typeface="Arial"/>
                <a:ea typeface="+mn-lt"/>
                <a:cs typeface="Arial"/>
              </a:rPr>
              <a:t>, </a:t>
            </a:r>
            <a:r>
              <a:rPr lang="vi-VN" err="1">
                <a:latin typeface="Arial"/>
                <a:ea typeface="+mn-lt"/>
                <a:cs typeface="Arial"/>
              </a:rPr>
              <a:t>number</a:t>
            </a:r>
            <a:r>
              <a:rPr lang="vi-VN">
                <a:latin typeface="Arial"/>
                <a:ea typeface="+mn-lt"/>
                <a:cs typeface="Arial"/>
              </a:rPr>
              <a:t> of bedrooms, </a:t>
            </a:r>
            <a:r>
              <a:rPr lang="vi-VN" err="1">
                <a:latin typeface="Arial"/>
                <a:ea typeface="+mn-lt"/>
                <a:cs typeface="Arial"/>
              </a:rPr>
              <a:t>location</a:t>
            </a:r>
            <a:r>
              <a:rPr lang="vi-VN" dirty="0">
                <a:latin typeface="Arial"/>
                <a:ea typeface="+mn-lt"/>
                <a:cs typeface="Arial"/>
              </a:rPr>
              <a:t>, </a:t>
            </a:r>
            <a:r>
              <a:rPr lang="vi-VN" dirty="0" err="1">
                <a:latin typeface="Arial"/>
                <a:ea typeface="+mn-lt"/>
                <a:cs typeface="Arial"/>
              </a:rPr>
              <a:t>etc</a:t>
            </a:r>
            <a:r>
              <a:rPr lang="vi-VN" dirty="0">
                <a:latin typeface="Arial"/>
                <a:ea typeface="+mn-lt"/>
                <a:cs typeface="Arial"/>
              </a:rPr>
              <a:t>.</a:t>
            </a:r>
            <a:endParaRPr lang="vi-VN" dirty="0">
              <a:latin typeface="Arial"/>
              <a:cs typeface="Arial"/>
            </a:endParaRPr>
          </a:p>
          <a:p>
            <a:pPr marL="0" indent="0">
              <a:buNone/>
            </a:pPr>
            <a:endParaRPr lang="vi-VN" dirty="0">
              <a:latin typeface="Arial"/>
              <a:cs typeface="Arial"/>
            </a:endParaRPr>
          </a:p>
          <a:p>
            <a:endParaRPr lang="vi-VN" dirty="0">
              <a:latin typeface="Arial"/>
              <a:cs typeface="Arial"/>
            </a:endParaRPr>
          </a:p>
        </p:txBody>
      </p:sp>
      <p:pic>
        <p:nvPicPr>
          <p:cNvPr id="4" name="Hình ảnh 3" descr="Ảnh có chứa văn bản, ảnh chụp màn hình, Phông chữ&#10;&#10;Nội dung do AI tạo có thể không chính xác.">
            <a:extLst>
              <a:ext uri="{FF2B5EF4-FFF2-40B4-BE49-F238E27FC236}">
                <a16:creationId xmlns:a16="http://schemas.microsoft.com/office/drawing/2014/main" id="{1FFFF487-ABBD-1DE4-10A1-B3ABA678E03E}"/>
              </a:ext>
            </a:extLst>
          </p:cNvPr>
          <p:cNvPicPr>
            <a:picLocks noChangeAspect="1"/>
          </p:cNvPicPr>
          <p:nvPr/>
        </p:nvPicPr>
        <p:blipFill>
          <a:blip r:embed="rId2"/>
          <a:stretch>
            <a:fillRect/>
          </a:stretch>
        </p:blipFill>
        <p:spPr>
          <a:xfrm>
            <a:off x="5153333" y="1710525"/>
            <a:ext cx="7036617" cy="3339672"/>
          </a:xfrm>
          <a:prstGeom prst="rect">
            <a:avLst/>
          </a:prstGeom>
        </p:spPr>
      </p:pic>
      <p:pic>
        <p:nvPicPr>
          <p:cNvPr id="5" name="Hình ảnh 4" descr="Ảnh có chứa văn bản, ảnh chụp màn hình, Phông chữ&#10;&#10;Nội dung do AI tạo có thể không chính xác.">
            <a:extLst>
              <a:ext uri="{FF2B5EF4-FFF2-40B4-BE49-F238E27FC236}">
                <a16:creationId xmlns:a16="http://schemas.microsoft.com/office/drawing/2014/main" id="{95902568-E463-8288-72C9-716403A62E0E}"/>
              </a:ext>
            </a:extLst>
          </p:cNvPr>
          <p:cNvPicPr>
            <a:picLocks noChangeAspect="1"/>
          </p:cNvPicPr>
          <p:nvPr/>
        </p:nvPicPr>
        <p:blipFill>
          <a:blip r:embed="rId3"/>
          <a:stretch>
            <a:fillRect/>
          </a:stretch>
        </p:blipFill>
        <p:spPr>
          <a:xfrm>
            <a:off x="175711" y="1683168"/>
            <a:ext cx="4741947" cy="3491666"/>
          </a:xfrm>
          <a:prstGeom prst="rect">
            <a:avLst/>
          </a:prstGeom>
        </p:spPr>
      </p:pic>
    </p:spTree>
    <p:extLst>
      <p:ext uri="{BB962C8B-B14F-4D97-AF65-F5344CB8AC3E}">
        <p14:creationId xmlns:p14="http://schemas.microsoft.com/office/powerpoint/2010/main" val="184524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C314D6E-249C-84DB-2D9B-278CCF8C2433}"/>
              </a:ext>
            </a:extLst>
          </p:cNvPr>
          <p:cNvSpPr>
            <a:spLocks noGrp="1"/>
          </p:cNvSpPr>
          <p:nvPr>
            <p:ph type="title"/>
          </p:nvPr>
        </p:nvSpPr>
        <p:spPr>
          <a:xfrm>
            <a:off x="3587" y="4506402"/>
            <a:ext cx="9956747" cy="1316860"/>
          </a:xfrm>
        </p:spPr>
        <p:txBody>
          <a:bodyPr>
            <a:normAutofit fontScale="90000"/>
          </a:bodyPr>
          <a:lstStyle/>
          <a:p>
            <a:r>
              <a:rPr lang="vi-VN" sz="4900" dirty="0" err="1">
                <a:latin typeface="Times New Roman"/>
                <a:ea typeface="+mj-lt"/>
                <a:cs typeface="Times New Roman"/>
              </a:rPr>
              <a:t>Exploratory</a:t>
            </a:r>
            <a:r>
              <a:rPr lang="vi-VN" sz="4900" dirty="0">
                <a:latin typeface="Times New Roman"/>
                <a:ea typeface="+mj-lt"/>
                <a:cs typeface="Times New Roman"/>
              </a:rPr>
              <a:t> </a:t>
            </a:r>
            <a:r>
              <a:rPr lang="vi-VN" sz="4900" dirty="0" err="1">
                <a:latin typeface="Times New Roman"/>
                <a:ea typeface="+mj-lt"/>
                <a:cs typeface="Times New Roman"/>
              </a:rPr>
              <a:t>Data</a:t>
            </a:r>
            <a:r>
              <a:rPr lang="vi-VN" sz="4900" dirty="0">
                <a:latin typeface="Times New Roman"/>
                <a:ea typeface="+mj-lt"/>
                <a:cs typeface="Times New Roman"/>
              </a:rPr>
              <a:t> </a:t>
            </a:r>
            <a:r>
              <a:rPr lang="vi-VN" sz="4900" dirty="0" err="1">
                <a:latin typeface="Times New Roman"/>
                <a:ea typeface="+mj-lt"/>
                <a:cs typeface="Times New Roman"/>
              </a:rPr>
              <a:t>Analysis</a:t>
            </a:r>
            <a:endParaRPr lang="vi-VN" sz="4900" b="0" dirty="0" err="1">
              <a:solidFill>
                <a:srgbClr val="000000"/>
              </a:solidFill>
              <a:latin typeface="Times New Roman"/>
              <a:ea typeface="+mj-lt"/>
              <a:cs typeface="Times New Roman"/>
            </a:endParaRPr>
          </a:p>
          <a:p>
            <a:br>
              <a:rPr lang="vi-VN" sz="1400" b="0" dirty="0">
                <a:ea typeface="+mj-lt"/>
                <a:cs typeface="+mj-lt"/>
              </a:rPr>
            </a:br>
            <a:r>
              <a:rPr lang="vi-VN" sz="1800" b="0" dirty="0" err="1">
                <a:ea typeface="+mj-lt"/>
                <a:cs typeface="+mj-lt"/>
              </a:rPr>
              <a:t>Box</a:t>
            </a:r>
            <a:r>
              <a:rPr lang="vi-VN" sz="1800" b="0" dirty="0">
                <a:ea typeface="+mj-lt"/>
                <a:cs typeface="+mj-lt"/>
              </a:rPr>
              <a:t> </a:t>
            </a:r>
            <a:r>
              <a:rPr lang="vi-VN" sz="1800" b="0" dirty="0" err="1">
                <a:ea typeface="+mj-lt"/>
                <a:cs typeface="+mj-lt"/>
              </a:rPr>
              <a:t>plot</a:t>
            </a:r>
            <a:r>
              <a:rPr lang="vi-VN" sz="1800" b="0" dirty="0">
                <a:ea typeface="+mj-lt"/>
                <a:cs typeface="+mj-lt"/>
              </a:rPr>
              <a:t> </a:t>
            </a:r>
            <a:r>
              <a:rPr lang="vi-VN" sz="1800" b="0" dirty="0" err="1">
                <a:ea typeface="+mj-lt"/>
                <a:cs typeface="+mj-lt"/>
              </a:rPr>
              <a:t>is</a:t>
            </a:r>
            <a:r>
              <a:rPr lang="vi-VN" sz="1800" b="0" dirty="0">
                <a:ea typeface="+mj-lt"/>
                <a:cs typeface="+mj-lt"/>
              </a:rPr>
              <a:t> a </a:t>
            </a:r>
            <a:r>
              <a:rPr lang="vi-VN" sz="1800" b="0" dirty="0" err="1">
                <a:ea typeface="+mj-lt"/>
                <a:cs typeface="+mj-lt"/>
              </a:rPr>
              <a:t>method</a:t>
            </a:r>
            <a:r>
              <a:rPr lang="vi-VN" sz="1800" b="0" dirty="0">
                <a:ea typeface="+mj-lt"/>
                <a:cs typeface="+mj-lt"/>
              </a:rPr>
              <a:t> </a:t>
            </a:r>
            <a:r>
              <a:rPr lang="vi-VN" sz="1800" b="0" dirty="0" err="1">
                <a:ea typeface="+mj-lt"/>
                <a:cs typeface="+mj-lt"/>
              </a:rPr>
              <a:t>for</a:t>
            </a:r>
            <a:r>
              <a:rPr lang="vi-VN" sz="1800" b="0" dirty="0">
                <a:ea typeface="+mj-lt"/>
                <a:cs typeface="+mj-lt"/>
              </a:rPr>
              <a:t> </a:t>
            </a:r>
            <a:r>
              <a:rPr lang="vi-VN" sz="1800" b="0" dirty="0" err="1">
                <a:ea typeface="+mj-lt"/>
                <a:cs typeface="+mj-lt"/>
              </a:rPr>
              <a:t>graphically</a:t>
            </a:r>
            <a:r>
              <a:rPr lang="vi-VN" sz="1800" b="0" dirty="0">
                <a:ea typeface="+mj-lt"/>
                <a:cs typeface="+mj-lt"/>
              </a:rPr>
              <a:t> </a:t>
            </a:r>
            <a:r>
              <a:rPr lang="vi-VN" sz="1800" b="0" dirty="0" err="1">
                <a:ea typeface="+mj-lt"/>
                <a:cs typeface="+mj-lt"/>
              </a:rPr>
              <a:t>depicting</a:t>
            </a:r>
            <a:r>
              <a:rPr lang="vi-VN" sz="1800" b="0" dirty="0">
                <a:ea typeface="+mj-lt"/>
                <a:cs typeface="+mj-lt"/>
              </a:rPr>
              <a:t> </a:t>
            </a:r>
            <a:r>
              <a:rPr lang="vi-VN" sz="1800" b="0" dirty="0" err="1">
                <a:ea typeface="+mj-lt"/>
                <a:cs typeface="+mj-lt"/>
              </a:rPr>
              <a:t>groups</a:t>
            </a:r>
            <a:r>
              <a:rPr lang="vi-VN" sz="1800" b="0" dirty="0">
                <a:ea typeface="+mj-lt"/>
                <a:cs typeface="+mj-lt"/>
              </a:rPr>
              <a:t> </a:t>
            </a:r>
            <a:r>
              <a:rPr lang="vi-VN" sz="1800" b="0" dirty="0" err="1">
                <a:ea typeface="+mj-lt"/>
                <a:cs typeface="+mj-lt"/>
              </a:rPr>
              <a:t>of</a:t>
            </a:r>
            <a:r>
              <a:rPr lang="vi-VN" sz="1800" b="0" dirty="0">
                <a:ea typeface="+mj-lt"/>
                <a:cs typeface="+mj-lt"/>
              </a:rPr>
              <a:t> </a:t>
            </a:r>
            <a:r>
              <a:rPr lang="vi-VN" sz="1800" b="0" dirty="0" err="1">
                <a:ea typeface="+mj-lt"/>
                <a:cs typeface="+mj-lt"/>
              </a:rPr>
              <a:t>numerical</a:t>
            </a:r>
            <a:r>
              <a:rPr lang="vi-VN" sz="1800" b="0" dirty="0">
                <a:ea typeface="+mj-lt"/>
                <a:cs typeface="+mj-lt"/>
              </a:rPr>
              <a:t> </a:t>
            </a:r>
            <a:r>
              <a:rPr lang="vi-VN" sz="1800" b="0" dirty="0" err="1">
                <a:ea typeface="+mj-lt"/>
                <a:cs typeface="+mj-lt"/>
              </a:rPr>
              <a:t>data</a:t>
            </a:r>
            <a:r>
              <a:rPr lang="vi-VN" sz="1800" b="0" dirty="0">
                <a:ea typeface="+mj-lt"/>
                <a:cs typeface="+mj-lt"/>
              </a:rPr>
              <a:t> </a:t>
            </a:r>
            <a:r>
              <a:rPr lang="vi-VN" sz="1800" b="0" dirty="0" err="1">
                <a:ea typeface="+mj-lt"/>
                <a:cs typeface="+mj-lt"/>
              </a:rPr>
              <a:t>through</a:t>
            </a:r>
            <a:r>
              <a:rPr lang="vi-VN" sz="1800" b="0" dirty="0">
                <a:ea typeface="+mj-lt"/>
                <a:cs typeface="+mj-lt"/>
              </a:rPr>
              <a:t> </a:t>
            </a:r>
            <a:r>
              <a:rPr lang="vi-VN" sz="1800" b="0" dirty="0" err="1">
                <a:ea typeface="+mj-lt"/>
                <a:cs typeface="+mj-lt"/>
              </a:rPr>
              <a:t>their</a:t>
            </a:r>
            <a:r>
              <a:rPr lang="vi-VN" sz="1800" b="0" dirty="0">
                <a:ea typeface="+mj-lt"/>
                <a:cs typeface="+mj-lt"/>
              </a:rPr>
              <a:t> </a:t>
            </a:r>
            <a:r>
              <a:rPr lang="vi-VN" sz="1800" b="0" dirty="0" err="1">
                <a:ea typeface="+mj-lt"/>
                <a:cs typeface="+mj-lt"/>
              </a:rPr>
              <a:t>quartiles</a:t>
            </a:r>
            <a:r>
              <a:rPr lang="vi-VN" sz="1800" b="0" dirty="0">
                <a:ea typeface="+mj-lt"/>
                <a:cs typeface="+mj-lt"/>
              </a:rPr>
              <a:t>. </a:t>
            </a:r>
            <a:r>
              <a:rPr lang="vi-VN" sz="1800" b="0" dirty="0" err="1">
                <a:ea typeface="+mj-lt"/>
                <a:cs typeface="+mj-lt"/>
              </a:rPr>
              <a:t>Box</a:t>
            </a:r>
            <a:r>
              <a:rPr lang="vi-VN" sz="1800" b="0" dirty="0">
                <a:ea typeface="+mj-lt"/>
                <a:cs typeface="+mj-lt"/>
              </a:rPr>
              <a:t> </a:t>
            </a:r>
            <a:r>
              <a:rPr lang="vi-VN" sz="1800" b="0" dirty="0" err="1">
                <a:ea typeface="+mj-lt"/>
                <a:cs typeface="+mj-lt"/>
              </a:rPr>
              <a:t>plots</a:t>
            </a:r>
            <a:r>
              <a:rPr lang="vi-VN" sz="1800" b="0" dirty="0">
                <a:ea typeface="+mj-lt"/>
                <a:cs typeface="+mj-lt"/>
              </a:rPr>
              <a:t> may </a:t>
            </a:r>
            <a:r>
              <a:rPr lang="vi-VN" sz="1800" b="0" dirty="0" err="1">
                <a:ea typeface="+mj-lt"/>
                <a:cs typeface="+mj-lt"/>
              </a:rPr>
              <a:t>also</a:t>
            </a:r>
            <a:r>
              <a:rPr lang="vi-VN" sz="1800" b="0" dirty="0">
                <a:ea typeface="+mj-lt"/>
                <a:cs typeface="+mj-lt"/>
              </a:rPr>
              <a:t> </a:t>
            </a:r>
            <a:r>
              <a:rPr lang="vi-VN" sz="1800" b="0" dirty="0" err="1">
                <a:ea typeface="+mj-lt"/>
                <a:cs typeface="+mj-lt"/>
              </a:rPr>
              <a:t>have</a:t>
            </a:r>
            <a:r>
              <a:rPr lang="vi-VN" sz="1800" b="0" dirty="0">
                <a:ea typeface="+mj-lt"/>
                <a:cs typeface="+mj-lt"/>
              </a:rPr>
              <a:t> </a:t>
            </a:r>
            <a:r>
              <a:rPr lang="vi-VN" sz="1800" b="0" dirty="0" err="1">
                <a:ea typeface="+mj-lt"/>
                <a:cs typeface="+mj-lt"/>
              </a:rPr>
              <a:t>lines</a:t>
            </a:r>
            <a:r>
              <a:rPr lang="vi-VN" sz="1800" b="0" dirty="0">
                <a:ea typeface="+mj-lt"/>
                <a:cs typeface="+mj-lt"/>
              </a:rPr>
              <a:t> </a:t>
            </a:r>
            <a:r>
              <a:rPr lang="vi-VN" sz="1800" b="0" dirty="0" err="1">
                <a:ea typeface="+mj-lt"/>
                <a:cs typeface="+mj-lt"/>
              </a:rPr>
              <a:t>extending</a:t>
            </a:r>
            <a:r>
              <a:rPr lang="vi-VN" sz="1800" b="0" dirty="0">
                <a:ea typeface="+mj-lt"/>
                <a:cs typeface="+mj-lt"/>
              </a:rPr>
              <a:t> </a:t>
            </a:r>
            <a:r>
              <a:rPr lang="vi-VN" sz="1800" b="0" dirty="0" err="1">
                <a:ea typeface="+mj-lt"/>
                <a:cs typeface="+mj-lt"/>
              </a:rPr>
              <a:t>from</a:t>
            </a:r>
            <a:r>
              <a:rPr lang="vi-VN" sz="1800" b="0" dirty="0">
                <a:ea typeface="+mj-lt"/>
                <a:cs typeface="+mj-lt"/>
              </a:rPr>
              <a:t> the </a:t>
            </a:r>
            <a:r>
              <a:rPr lang="vi-VN" sz="1800" b="0" dirty="0" err="1">
                <a:ea typeface="+mj-lt"/>
                <a:cs typeface="+mj-lt"/>
              </a:rPr>
              <a:t>boxes</a:t>
            </a:r>
            <a:r>
              <a:rPr lang="vi-VN" sz="1800" b="0" dirty="0">
                <a:ea typeface="+mj-lt"/>
                <a:cs typeface="+mj-lt"/>
              </a:rPr>
              <a:t> (</a:t>
            </a:r>
            <a:r>
              <a:rPr lang="vi-VN" sz="1800" b="0" dirty="0" err="1">
                <a:ea typeface="+mj-lt"/>
                <a:cs typeface="+mj-lt"/>
              </a:rPr>
              <a:t>whiskers</a:t>
            </a:r>
            <a:r>
              <a:rPr lang="vi-VN" sz="1800" b="0" dirty="0">
                <a:ea typeface="+mj-lt"/>
                <a:cs typeface="+mj-lt"/>
              </a:rPr>
              <a:t>) </a:t>
            </a:r>
            <a:r>
              <a:rPr lang="vi-VN" sz="1800" b="0" dirty="0" err="1">
                <a:ea typeface="+mj-lt"/>
                <a:cs typeface="+mj-lt"/>
              </a:rPr>
              <a:t>indicating</a:t>
            </a:r>
            <a:r>
              <a:rPr lang="vi-VN" sz="1800" b="0" dirty="0">
                <a:ea typeface="+mj-lt"/>
                <a:cs typeface="+mj-lt"/>
              </a:rPr>
              <a:t> </a:t>
            </a:r>
            <a:r>
              <a:rPr lang="vi-VN" sz="1800" b="0" dirty="0" err="1">
                <a:ea typeface="+mj-lt"/>
                <a:cs typeface="+mj-lt"/>
              </a:rPr>
              <a:t>variability</a:t>
            </a:r>
            <a:r>
              <a:rPr lang="vi-VN" sz="1800" b="0" dirty="0">
                <a:ea typeface="+mj-lt"/>
                <a:cs typeface="+mj-lt"/>
              </a:rPr>
              <a:t> </a:t>
            </a:r>
            <a:r>
              <a:rPr lang="vi-VN" sz="1800" b="0" dirty="0" err="1">
                <a:ea typeface="+mj-lt"/>
                <a:cs typeface="+mj-lt"/>
              </a:rPr>
              <a:t>outside</a:t>
            </a:r>
            <a:r>
              <a:rPr lang="vi-VN" sz="1800" b="0" dirty="0">
                <a:ea typeface="+mj-lt"/>
                <a:cs typeface="+mj-lt"/>
              </a:rPr>
              <a:t> the </a:t>
            </a:r>
            <a:r>
              <a:rPr lang="vi-VN" sz="1800" b="0" dirty="0" err="1">
                <a:ea typeface="+mj-lt"/>
                <a:cs typeface="+mj-lt"/>
              </a:rPr>
              <a:t>upper</a:t>
            </a:r>
            <a:r>
              <a:rPr lang="vi-VN" sz="1800" b="0" dirty="0">
                <a:ea typeface="+mj-lt"/>
                <a:cs typeface="+mj-lt"/>
              </a:rPr>
              <a:t> </a:t>
            </a:r>
            <a:r>
              <a:rPr lang="vi-VN" sz="1800" b="0" dirty="0" err="1">
                <a:ea typeface="+mj-lt"/>
                <a:cs typeface="+mj-lt"/>
              </a:rPr>
              <a:t>and</a:t>
            </a:r>
            <a:r>
              <a:rPr lang="vi-VN" sz="1800" b="0" dirty="0">
                <a:ea typeface="+mj-lt"/>
                <a:cs typeface="+mj-lt"/>
              </a:rPr>
              <a:t> </a:t>
            </a:r>
            <a:r>
              <a:rPr lang="vi-VN" sz="1800" b="0" dirty="0" err="1">
                <a:ea typeface="+mj-lt"/>
                <a:cs typeface="+mj-lt"/>
              </a:rPr>
              <a:t>lower</a:t>
            </a:r>
            <a:r>
              <a:rPr lang="vi-VN" sz="1800" b="0" dirty="0">
                <a:ea typeface="+mj-lt"/>
                <a:cs typeface="+mj-lt"/>
              </a:rPr>
              <a:t> </a:t>
            </a:r>
            <a:r>
              <a:rPr lang="vi-VN" sz="1800" b="0" dirty="0" err="1">
                <a:ea typeface="+mj-lt"/>
                <a:cs typeface="+mj-lt"/>
              </a:rPr>
              <a:t>quartiles</a:t>
            </a:r>
            <a:r>
              <a:rPr lang="vi-VN" sz="1800" b="0" dirty="0">
                <a:ea typeface="+mj-lt"/>
                <a:cs typeface="+mj-lt"/>
              </a:rPr>
              <a:t>, </a:t>
            </a:r>
            <a:r>
              <a:rPr lang="vi-VN" sz="1800" b="0" dirty="0" err="1">
                <a:ea typeface="+mj-lt"/>
                <a:cs typeface="+mj-lt"/>
              </a:rPr>
              <a:t>hence</a:t>
            </a:r>
            <a:r>
              <a:rPr lang="vi-VN" sz="1800" b="0" dirty="0">
                <a:ea typeface="+mj-lt"/>
                <a:cs typeface="+mj-lt"/>
              </a:rPr>
              <a:t> the </a:t>
            </a:r>
            <a:r>
              <a:rPr lang="vi-VN" sz="1800" b="0" dirty="0" err="1">
                <a:ea typeface="+mj-lt"/>
                <a:cs typeface="+mj-lt"/>
              </a:rPr>
              <a:t>terms</a:t>
            </a:r>
            <a:r>
              <a:rPr lang="vi-VN" sz="1800" b="0" dirty="0">
                <a:ea typeface="+mj-lt"/>
                <a:cs typeface="+mj-lt"/>
              </a:rPr>
              <a:t> </a:t>
            </a:r>
            <a:r>
              <a:rPr lang="vi-VN" sz="1800" b="0" dirty="0" err="1">
                <a:ea typeface="+mj-lt"/>
                <a:cs typeface="+mj-lt"/>
              </a:rPr>
              <a:t>box-and-whisker</a:t>
            </a:r>
            <a:r>
              <a:rPr lang="vi-VN" sz="1800" b="0" dirty="0">
                <a:ea typeface="+mj-lt"/>
                <a:cs typeface="+mj-lt"/>
              </a:rPr>
              <a:t> </a:t>
            </a:r>
            <a:r>
              <a:rPr lang="vi-VN" sz="1800" b="0" dirty="0" err="1">
                <a:ea typeface="+mj-lt"/>
                <a:cs typeface="+mj-lt"/>
              </a:rPr>
              <a:t>plot</a:t>
            </a:r>
            <a:r>
              <a:rPr lang="vi-VN" sz="1800" b="0" dirty="0">
                <a:ea typeface="+mj-lt"/>
                <a:cs typeface="+mj-lt"/>
              </a:rPr>
              <a:t>. </a:t>
            </a:r>
            <a:r>
              <a:rPr lang="vi-VN" sz="1800" b="0" dirty="0" err="1">
                <a:ea typeface="+mj-lt"/>
                <a:cs typeface="+mj-lt"/>
              </a:rPr>
              <a:t>Outliers</a:t>
            </a:r>
            <a:r>
              <a:rPr lang="vi-VN" sz="1800" b="0" dirty="0">
                <a:ea typeface="+mj-lt"/>
                <a:cs typeface="+mj-lt"/>
              </a:rPr>
              <a:t> may be </a:t>
            </a:r>
            <a:r>
              <a:rPr lang="vi-VN" sz="1800" b="0" dirty="0" err="1">
                <a:ea typeface="+mj-lt"/>
                <a:cs typeface="+mj-lt"/>
              </a:rPr>
              <a:t>plotted</a:t>
            </a:r>
            <a:r>
              <a:rPr lang="vi-VN" sz="1800" b="0" dirty="0">
                <a:ea typeface="+mj-lt"/>
                <a:cs typeface="+mj-lt"/>
              </a:rPr>
              <a:t> </a:t>
            </a:r>
            <a:r>
              <a:rPr lang="vi-VN" sz="1800" b="0" dirty="0" err="1">
                <a:ea typeface="+mj-lt"/>
                <a:cs typeface="+mj-lt"/>
              </a:rPr>
              <a:t>as</a:t>
            </a:r>
            <a:r>
              <a:rPr lang="vi-VN" sz="1800" b="0" dirty="0">
                <a:ea typeface="+mj-lt"/>
                <a:cs typeface="+mj-lt"/>
              </a:rPr>
              <a:t> </a:t>
            </a:r>
            <a:r>
              <a:rPr lang="vi-VN" sz="1800" b="0" dirty="0" err="1">
                <a:ea typeface="+mj-lt"/>
                <a:cs typeface="+mj-lt"/>
              </a:rPr>
              <a:t>individual</a:t>
            </a:r>
            <a:r>
              <a:rPr lang="vi-VN" sz="1800" b="0" dirty="0">
                <a:ea typeface="+mj-lt"/>
                <a:cs typeface="+mj-lt"/>
              </a:rPr>
              <a:t> </a:t>
            </a:r>
            <a:r>
              <a:rPr lang="vi-VN" sz="1800" b="0" dirty="0" err="1">
                <a:ea typeface="+mj-lt"/>
                <a:cs typeface="+mj-lt"/>
              </a:rPr>
              <a:t>points</a:t>
            </a:r>
            <a:r>
              <a:rPr lang="vi-VN" sz="1800" b="0" dirty="0">
                <a:ea typeface="+mj-lt"/>
                <a:cs typeface="+mj-lt"/>
              </a:rPr>
              <a:t>. The </a:t>
            </a:r>
            <a:r>
              <a:rPr lang="vi-VN" sz="1800" b="0" dirty="0" err="1">
                <a:ea typeface="+mj-lt"/>
                <a:cs typeface="+mj-lt"/>
              </a:rPr>
              <a:t>spacings</a:t>
            </a:r>
            <a:r>
              <a:rPr lang="vi-VN" sz="1800" b="0" dirty="0">
                <a:ea typeface="+mj-lt"/>
                <a:cs typeface="+mj-lt"/>
              </a:rPr>
              <a:t> </a:t>
            </a:r>
            <a:r>
              <a:rPr lang="vi-VN" sz="1800" b="0" dirty="0" err="1">
                <a:ea typeface="+mj-lt"/>
                <a:cs typeface="+mj-lt"/>
              </a:rPr>
              <a:t>between</a:t>
            </a:r>
            <a:r>
              <a:rPr lang="vi-VN" sz="1800" b="0" dirty="0">
                <a:ea typeface="+mj-lt"/>
                <a:cs typeface="+mj-lt"/>
              </a:rPr>
              <a:t> the </a:t>
            </a:r>
            <a:r>
              <a:rPr lang="vi-VN" sz="1800" b="0" dirty="0" err="1">
                <a:ea typeface="+mj-lt"/>
                <a:cs typeface="+mj-lt"/>
              </a:rPr>
              <a:t>different</a:t>
            </a:r>
            <a:r>
              <a:rPr lang="vi-VN" sz="1800" b="0" dirty="0">
                <a:ea typeface="+mj-lt"/>
                <a:cs typeface="+mj-lt"/>
              </a:rPr>
              <a:t> </a:t>
            </a:r>
            <a:r>
              <a:rPr lang="vi-VN" sz="1800" b="0" dirty="0" err="1">
                <a:ea typeface="+mj-lt"/>
                <a:cs typeface="+mj-lt"/>
              </a:rPr>
              <a:t>parts</a:t>
            </a:r>
            <a:r>
              <a:rPr lang="vi-VN" sz="1800" b="0" dirty="0">
                <a:ea typeface="+mj-lt"/>
                <a:cs typeface="+mj-lt"/>
              </a:rPr>
              <a:t> </a:t>
            </a:r>
            <a:r>
              <a:rPr lang="vi-VN" sz="1800" b="0" dirty="0" err="1">
                <a:ea typeface="+mj-lt"/>
                <a:cs typeface="+mj-lt"/>
              </a:rPr>
              <a:t>of</a:t>
            </a:r>
            <a:r>
              <a:rPr lang="vi-VN" sz="1800" b="0" dirty="0">
                <a:ea typeface="+mj-lt"/>
                <a:cs typeface="+mj-lt"/>
              </a:rPr>
              <a:t> the </a:t>
            </a:r>
            <a:r>
              <a:rPr lang="vi-VN" sz="1800" b="0" dirty="0" err="1">
                <a:ea typeface="+mj-lt"/>
                <a:cs typeface="+mj-lt"/>
              </a:rPr>
              <a:t>box</a:t>
            </a:r>
            <a:r>
              <a:rPr lang="vi-VN" sz="1800" b="0" dirty="0">
                <a:ea typeface="+mj-lt"/>
                <a:cs typeface="+mj-lt"/>
              </a:rPr>
              <a:t> </a:t>
            </a:r>
            <a:r>
              <a:rPr lang="vi-VN" sz="1800" b="0" dirty="0" err="1">
                <a:ea typeface="+mj-lt"/>
                <a:cs typeface="+mj-lt"/>
              </a:rPr>
              <a:t>indicate</a:t>
            </a:r>
            <a:r>
              <a:rPr lang="vi-VN" sz="1800" b="0" dirty="0">
                <a:ea typeface="+mj-lt"/>
                <a:cs typeface="+mj-lt"/>
              </a:rPr>
              <a:t> the </a:t>
            </a:r>
            <a:r>
              <a:rPr lang="vi-VN" sz="1800" b="0" dirty="0" err="1">
                <a:ea typeface="+mj-lt"/>
                <a:cs typeface="+mj-lt"/>
              </a:rPr>
              <a:t>degree</a:t>
            </a:r>
            <a:r>
              <a:rPr lang="vi-VN" sz="1800" b="0" dirty="0">
                <a:ea typeface="+mj-lt"/>
                <a:cs typeface="+mj-lt"/>
              </a:rPr>
              <a:t> </a:t>
            </a:r>
            <a:r>
              <a:rPr lang="vi-VN" sz="1800" b="0" dirty="0" err="1">
                <a:ea typeface="+mj-lt"/>
                <a:cs typeface="+mj-lt"/>
              </a:rPr>
              <a:t>of</a:t>
            </a:r>
            <a:r>
              <a:rPr lang="vi-VN" sz="1800" b="0" dirty="0">
                <a:ea typeface="+mj-lt"/>
                <a:cs typeface="+mj-lt"/>
              </a:rPr>
              <a:t> </a:t>
            </a:r>
            <a:r>
              <a:rPr lang="vi-VN" sz="1800" b="0" dirty="0" err="1">
                <a:ea typeface="+mj-lt"/>
                <a:cs typeface="+mj-lt"/>
              </a:rPr>
              <a:t>dispersion</a:t>
            </a:r>
            <a:r>
              <a:rPr lang="vi-VN" sz="1800" b="0" dirty="0">
                <a:ea typeface="+mj-lt"/>
                <a:cs typeface="+mj-lt"/>
              </a:rPr>
              <a:t> (</a:t>
            </a:r>
            <a:r>
              <a:rPr lang="vi-VN" sz="1800" b="0" dirty="0" err="1">
                <a:ea typeface="+mj-lt"/>
                <a:cs typeface="+mj-lt"/>
              </a:rPr>
              <a:t>spread</a:t>
            </a:r>
            <a:r>
              <a:rPr lang="vi-VN" sz="1800" b="0" dirty="0">
                <a:ea typeface="+mj-lt"/>
                <a:cs typeface="+mj-lt"/>
              </a:rPr>
              <a:t>).</a:t>
            </a:r>
            <a:br>
              <a:rPr lang="vi-VN" sz="1800" b="0" dirty="0">
                <a:ea typeface="+mj-lt"/>
                <a:cs typeface="+mj-lt"/>
              </a:rPr>
            </a:br>
            <a:br>
              <a:rPr lang="vi-VN" sz="1800" b="0" dirty="0">
                <a:ea typeface="+mj-lt"/>
                <a:cs typeface="+mj-lt"/>
              </a:rPr>
            </a:br>
            <a:br>
              <a:rPr lang="vi-VN" sz="1800" b="0" dirty="0">
                <a:ea typeface="+mj-lt"/>
                <a:cs typeface="+mj-lt"/>
              </a:rPr>
            </a:br>
            <a:br>
              <a:rPr lang="vi-VN" sz="1800" b="0" dirty="0">
                <a:ea typeface="+mj-lt"/>
                <a:cs typeface="+mj-lt"/>
              </a:rPr>
            </a:br>
            <a:r>
              <a:rPr lang="vi-VN" sz="1800" b="0" dirty="0">
                <a:ea typeface="+mj-lt"/>
                <a:cs typeface="+mj-lt"/>
              </a:rPr>
              <a:t>-</a:t>
            </a:r>
            <a:r>
              <a:rPr lang="vi-VN" sz="1800" b="0" dirty="0" err="1">
                <a:ea typeface="+mj-lt"/>
                <a:cs typeface="+mj-lt"/>
              </a:rPr>
              <a:t>We</a:t>
            </a:r>
            <a:r>
              <a:rPr lang="vi-VN" sz="1800" b="0" dirty="0">
                <a:ea typeface="+mj-lt"/>
                <a:cs typeface="+mj-lt"/>
              </a:rPr>
              <a:t> can </a:t>
            </a:r>
            <a:r>
              <a:rPr lang="vi-VN" sz="1800" b="0" dirty="0" err="1">
                <a:ea typeface="+mj-lt"/>
                <a:cs typeface="+mj-lt"/>
              </a:rPr>
              <a:t>see</a:t>
            </a:r>
            <a:r>
              <a:rPr lang="vi-VN" sz="1800" b="0" dirty="0">
                <a:ea typeface="+mj-lt"/>
                <a:cs typeface="+mj-lt"/>
              </a:rPr>
              <a:t> </a:t>
            </a:r>
            <a:r>
              <a:rPr lang="vi-VN" sz="1800" b="0" dirty="0" err="1">
                <a:ea typeface="+mj-lt"/>
                <a:cs typeface="+mj-lt"/>
              </a:rPr>
              <a:t>that</a:t>
            </a:r>
            <a:r>
              <a:rPr lang="vi-VN" sz="1800" b="0" dirty="0">
                <a:ea typeface="+mj-lt"/>
                <a:cs typeface="+mj-lt"/>
              </a:rPr>
              <a:t> the </a:t>
            </a:r>
            <a:r>
              <a:rPr lang="vi-VN" sz="1800" b="0" dirty="0" err="1">
                <a:ea typeface="+mj-lt"/>
                <a:cs typeface="+mj-lt"/>
              </a:rPr>
              <a:t>price</a:t>
            </a:r>
            <a:r>
              <a:rPr lang="vi-VN" sz="1800" b="0" dirty="0">
                <a:ea typeface="+mj-lt"/>
                <a:cs typeface="+mj-lt"/>
              </a:rPr>
              <a:t> </a:t>
            </a:r>
            <a:r>
              <a:rPr lang="vi-VN" sz="1800" b="0" dirty="0" err="1">
                <a:ea typeface="+mj-lt"/>
                <a:cs typeface="+mj-lt"/>
              </a:rPr>
              <a:t>tends</a:t>
            </a:r>
            <a:r>
              <a:rPr lang="vi-VN" sz="1800" b="0" dirty="0">
                <a:ea typeface="+mj-lt"/>
                <a:cs typeface="+mj-lt"/>
              </a:rPr>
              <a:t> to go</a:t>
            </a:r>
            <a:br>
              <a:rPr lang="vi-VN" sz="1800" b="0" dirty="0">
                <a:ea typeface="+mj-lt"/>
                <a:cs typeface="+mj-lt"/>
              </a:rPr>
            </a:br>
            <a:r>
              <a:rPr lang="vi-VN" sz="1800" b="0" dirty="0">
                <a:ea typeface="+mj-lt"/>
                <a:cs typeface="+mj-lt"/>
              </a:rPr>
              <a:t> </a:t>
            </a:r>
            <a:r>
              <a:rPr lang="vi-VN" sz="1800" b="0" dirty="0" err="1">
                <a:ea typeface="+mj-lt"/>
                <a:cs typeface="+mj-lt"/>
              </a:rPr>
              <a:t>up</a:t>
            </a:r>
            <a:r>
              <a:rPr lang="vi-VN" sz="1800" b="0" dirty="0">
                <a:ea typeface="+mj-lt"/>
                <a:cs typeface="+mj-lt"/>
              </a:rPr>
              <a:t> </a:t>
            </a:r>
            <a:r>
              <a:rPr lang="vi-VN" sz="1800" b="0" dirty="0" err="1">
                <a:ea typeface="+mj-lt"/>
                <a:cs typeface="+mj-lt"/>
              </a:rPr>
              <a:t>when</a:t>
            </a:r>
            <a:r>
              <a:rPr lang="vi-VN" sz="1800" b="0" dirty="0">
                <a:ea typeface="+mj-lt"/>
                <a:cs typeface="+mj-lt"/>
              </a:rPr>
              <a:t> the </a:t>
            </a:r>
            <a:r>
              <a:rPr lang="vi-VN" sz="1800" b="0" dirty="0" err="1">
                <a:ea typeface="+mj-lt"/>
                <a:cs typeface="+mj-lt"/>
              </a:rPr>
              <a:t>house</a:t>
            </a:r>
            <a:r>
              <a:rPr lang="vi-VN" sz="1800" b="0" dirty="0">
                <a:ea typeface="+mj-lt"/>
                <a:cs typeface="+mj-lt"/>
              </a:rPr>
              <a:t> </a:t>
            </a:r>
            <a:r>
              <a:rPr lang="vi-VN" sz="1800" b="0" dirty="0" err="1">
                <a:ea typeface="+mj-lt"/>
                <a:cs typeface="+mj-lt"/>
              </a:rPr>
              <a:t>has</a:t>
            </a:r>
            <a:r>
              <a:rPr lang="vi-VN" sz="1800" b="0" dirty="0">
                <a:ea typeface="+mj-lt"/>
                <a:cs typeface="+mj-lt"/>
              </a:rPr>
              <a:t> </a:t>
            </a:r>
            <a:r>
              <a:rPr lang="vi-VN" sz="1800" b="0" dirty="0" err="1">
                <a:ea typeface="+mj-lt"/>
                <a:cs typeface="+mj-lt"/>
              </a:rPr>
              <a:t>more</a:t>
            </a:r>
            <a:r>
              <a:rPr lang="vi-VN" sz="1800" b="0" dirty="0">
                <a:ea typeface="+mj-lt"/>
                <a:cs typeface="+mj-lt"/>
              </a:rPr>
              <a:t> </a:t>
            </a:r>
            <a:r>
              <a:rPr lang="vi-VN" sz="1800" b="0" dirty="0" err="1">
                <a:ea typeface="+mj-lt"/>
                <a:cs typeface="+mj-lt"/>
              </a:rPr>
              <a:t>bedrooms</a:t>
            </a:r>
            <a:br>
              <a:rPr lang="vi-VN" sz="1800" b="0" dirty="0">
                <a:ea typeface="+mj-lt"/>
                <a:cs typeface="+mj-lt"/>
              </a:rPr>
            </a:br>
            <a:br>
              <a:rPr lang="vi-VN" sz="1800" b="0" dirty="0">
                <a:ea typeface="+mj-lt"/>
                <a:cs typeface="+mj-lt"/>
              </a:rPr>
            </a:br>
            <a:br>
              <a:rPr lang="vi-VN" sz="1800" b="0" dirty="0">
                <a:ea typeface="+mj-lt"/>
                <a:cs typeface="+mj-lt"/>
              </a:rPr>
            </a:br>
            <a:br>
              <a:rPr lang="vi-VN" sz="1800" b="0" dirty="0">
                <a:ea typeface="+mj-lt"/>
                <a:cs typeface="+mj-lt"/>
              </a:rPr>
            </a:br>
            <a:r>
              <a:rPr lang="vi-VN" sz="1800" b="0" dirty="0">
                <a:ea typeface="+mj-lt"/>
                <a:cs typeface="+mj-lt"/>
              </a:rPr>
              <a:t>-</a:t>
            </a:r>
            <a:r>
              <a:rPr lang="vi-VN" sz="1800" b="0" dirty="0" err="1">
                <a:ea typeface="+mj-lt"/>
                <a:cs typeface="+mj-lt"/>
              </a:rPr>
              <a:t>Waterfront</a:t>
            </a:r>
            <a:r>
              <a:rPr lang="vi-VN" sz="1800" b="0" dirty="0">
                <a:ea typeface="+mj-lt"/>
                <a:cs typeface="+mj-lt"/>
              </a:rPr>
              <a:t> </a:t>
            </a:r>
            <a:r>
              <a:rPr lang="vi-VN" sz="1800" b="0" dirty="0" err="1">
                <a:ea typeface="+mj-lt"/>
                <a:cs typeface="+mj-lt"/>
              </a:rPr>
              <a:t>houses</a:t>
            </a:r>
            <a:r>
              <a:rPr lang="vi-VN" sz="1800" b="0" dirty="0">
                <a:ea typeface="+mj-lt"/>
                <a:cs typeface="+mj-lt"/>
              </a:rPr>
              <a:t> </a:t>
            </a:r>
            <a:r>
              <a:rPr lang="vi-VN" sz="1800" b="0" dirty="0" err="1">
                <a:ea typeface="+mj-lt"/>
                <a:cs typeface="+mj-lt"/>
              </a:rPr>
              <a:t>tends</a:t>
            </a:r>
            <a:r>
              <a:rPr lang="vi-VN" sz="1800" b="0" dirty="0">
                <a:ea typeface="+mj-lt"/>
                <a:cs typeface="+mj-lt"/>
              </a:rPr>
              <a:t> to </a:t>
            </a:r>
            <a:r>
              <a:rPr lang="vi-VN" sz="1800" b="0" dirty="0" err="1">
                <a:ea typeface="+mj-lt"/>
                <a:cs typeface="+mj-lt"/>
              </a:rPr>
              <a:t>have</a:t>
            </a:r>
            <a:r>
              <a:rPr lang="vi-VN" sz="1800" b="0" dirty="0">
                <a:ea typeface="+mj-lt"/>
                <a:cs typeface="+mj-lt"/>
              </a:rPr>
              <a:t> a </a:t>
            </a:r>
            <a:r>
              <a:rPr lang="vi-VN" sz="1800" b="0" dirty="0" err="1">
                <a:ea typeface="+mj-lt"/>
                <a:cs typeface="+mj-lt"/>
              </a:rPr>
              <a:t>better</a:t>
            </a:r>
            <a:r>
              <a:rPr lang="vi-VN" sz="1800" b="0" dirty="0">
                <a:ea typeface="+mj-lt"/>
                <a:cs typeface="+mj-lt"/>
              </a:rPr>
              <a:t> </a:t>
            </a:r>
            <a:r>
              <a:rPr lang="vi-VN" sz="1800" b="0" dirty="0" err="1">
                <a:ea typeface="+mj-lt"/>
                <a:cs typeface="+mj-lt"/>
              </a:rPr>
              <a:t>price</a:t>
            </a:r>
            <a:r>
              <a:rPr lang="vi-VN" sz="1800" b="0" dirty="0">
                <a:ea typeface="+mj-lt"/>
                <a:cs typeface="+mj-lt"/>
              </a:rPr>
              <a:t> </a:t>
            </a:r>
            <a:r>
              <a:rPr lang="vi-VN" sz="1800" b="0" dirty="0" err="1">
                <a:ea typeface="+mj-lt"/>
                <a:cs typeface="+mj-lt"/>
              </a:rPr>
              <a:t>value</a:t>
            </a:r>
            <a:r>
              <a:rPr lang="vi-VN" sz="1800" b="0" dirty="0">
                <a:ea typeface="+mj-lt"/>
                <a:cs typeface="+mj-lt"/>
              </a:rPr>
              <a:t>.</a:t>
            </a:r>
          </a:p>
          <a:p>
            <a:endParaRPr lang="vi-VN"/>
          </a:p>
          <a:p>
            <a:endParaRPr lang="vi-VN"/>
          </a:p>
          <a:p>
            <a:r>
              <a:rPr lang="vi-VN" sz="1800" b="0" dirty="0">
                <a:ea typeface="+mj-lt"/>
                <a:cs typeface="+mj-lt"/>
              </a:rPr>
              <a:t>-</a:t>
            </a:r>
            <a:r>
              <a:rPr lang="vi-VN" sz="1800" b="0" dirty="0" err="1">
                <a:ea typeface="+mj-lt"/>
                <a:cs typeface="+mj-lt"/>
              </a:rPr>
              <a:t>Grade</a:t>
            </a:r>
            <a:r>
              <a:rPr lang="vi-VN" sz="1800" b="0" dirty="0">
                <a:ea typeface="+mj-lt"/>
                <a:cs typeface="+mj-lt"/>
              </a:rPr>
              <a:t> </a:t>
            </a:r>
            <a:r>
              <a:rPr lang="vi-VN" sz="1800" b="0" dirty="0" err="1">
                <a:ea typeface="+mj-lt"/>
                <a:cs typeface="+mj-lt"/>
              </a:rPr>
              <a:t>and</a:t>
            </a:r>
            <a:r>
              <a:rPr lang="vi-VN" sz="1800" b="0" dirty="0">
                <a:ea typeface="+mj-lt"/>
                <a:cs typeface="+mj-lt"/>
              </a:rPr>
              <a:t> </a:t>
            </a:r>
            <a:r>
              <a:rPr lang="vi-VN" sz="1800" b="0" dirty="0" err="1">
                <a:ea typeface="+mj-lt"/>
                <a:cs typeface="+mj-lt"/>
              </a:rPr>
              <a:t>waterfront</a:t>
            </a:r>
            <a:r>
              <a:rPr lang="vi-VN" sz="1800" b="0" dirty="0">
                <a:ea typeface="+mj-lt"/>
                <a:cs typeface="+mj-lt"/>
              </a:rPr>
              <a:t> </a:t>
            </a:r>
            <a:r>
              <a:rPr lang="vi-VN" sz="1800" b="0" dirty="0" err="1">
                <a:ea typeface="+mj-lt"/>
                <a:cs typeface="+mj-lt"/>
              </a:rPr>
              <a:t>effect</a:t>
            </a:r>
            <a:r>
              <a:rPr lang="vi-VN" sz="1800" b="0" dirty="0">
                <a:ea typeface="+mj-lt"/>
                <a:cs typeface="+mj-lt"/>
              </a:rPr>
              <a:t> </a:t>
            </a:r>
            <a:r>
              <a:rPr lang="vi-VN" sz="1800" b="0" dirty="0" err="1">
                <a:ea typeface="+mj-lt"/>
                <a:cs typeface="+mj-lt"/>
              </a:rPr>
              <a:t>price</a:t>
            </a:r>
            <a:r>
              <a:rPr lang="vi-VN" sz="1800" b="0" dirty="0">
                <a:ea typeface="+mj-lt"/>
                <a:cs typeface="+mj-lt"/>
              </a:rPr>
              <a:t>. </a:t>
            </a:r>
            <a:r>
              <a:rPr lang="vi-VN" sz="1800" b="0" dirty="0" err="1">
                <a:ea typeface="+mj-lt"/>
                <a:cs typeface="+mj-lt"/>
              </a:rPr>
              <a:t>View</a:t>
            </a:r>
            <a:r>
              <a:rPr lang="vi-VN" sz="1800" b="0" dirty="0">
                <a:ea typeface="+mj-lt"/>
                <a:cs typeface="+mj-lt"/>
              </a:rPr>
              <a:t> </a:t>
            </a:r>
            <a:r>
              <a:rPr lang="vi-VN" sz="1800" b="0" dirty="0" err="1">
                <a:ea typeface="+mj-lt"/>
                <a:cs typeface="+mj-lt"/>
              </a:rPr>
              <a:t>seem</a:t>
            </a:r>
            <a:r>
              <a:rPr lang="vi-VN" sz="1800" b="0" dirty="0">
                <a:ea typeface="+mj-lt"/>
                <a:cs typeface="+mj-lt"/>
              </a:rPr>
              <a:t> to </a:t>
            </a:r>
            <a:br>
              <a:rPr lang="vi-VN" sz="1800" b="0" dirty="0">
                <a:ea typeface="+mj-lt"/>
                <a:cs typeface="+mj-lt"/>
              </a:rPr>
            </a:br>
            <a:r>
              <a:rPr lang="vi-VN" sz="1800" b="0" dirty="0" err="1">
                <a:ea typeface="+mj-lt"/>
                <a:cs typeface="+mj-lt"/>
              </a:rPr>
              <a:t>effect</a:t>
            </a:r>
            <a:r>
              <a:rPr lang="vi-VN" sz="1800" b="0" dirty="0">
                <a:ea typeface="+mj-lt"/>
                <a:cs typeface="+mj-lt"/>
              </a:rPr>
              <a:t> </a:t>
            </a:r>
            <a:r>
              <a:rPr lang="vi-VN" sz="1800" b="0" dirty="0" err="1">
                <a:ea typeface="+mj-lt"/>
                <a:cs typeface="+mj-lt"/>
              </a:rPr>
              <a:t>less</a:t>
            </a:r>
            <a:r>
              <a:rPr lang="vi-VN" sz="1800" b="0" dirty="0">
                <a:ea typeface="+mj-lt"/>
                <a:cs typeface="+mj-lt"/>
              </a:rPr>
              <a:t> </a:t>
            </a:r>
            <a:r>
              <a:rPr lang="vi-VN" sz="1800" b="0" dirty="0" err="1">
                <a:ea typeface="+mj-lt"/>
                <a:cs typeface="+mj-lt"/>
              </a:rPr>
              <a:t>but</a:t>
            </a:r>
            <a:r>
              <a:rPr lang="vi-VN" sz="1800" b="0" dirty="0">
                <a:ea typeface="+mj-lt"/>
                <a:cs typeface="+mj-lt"/>
              </a:rPr>
              <a:t> </a:t>
            </a:r>
            <a:r>
              <a:rPr lang="vi-VN" sz="1800" b="0" dirty="0" err="1">
                <a:ea typeface="+mj-lt"/>
                <a:cs typeface="+mj-lt"/>
              </a:rPr>
              <a:t>it</a:t>
            </a:r>
            <a:r>
              <a:rPr lang="vi-VN" sz="1800" b="0" dirty="0">
                <a:ea typeface="+mj-lt"/>
                <a:cs typeface="+mj-lt"/>
              </a:rPr>
              <a:t> </a:t>
            </a:r>
            <a:r>
              <a:rPr lang="vi-VN" sz="1800" b="0" dirty="0" err="1">
                <a:ea typeface="+mj-lt"/>
                <a:cs typeface="+mj-lt"/>
              </a:rPr>
              <a:t>also</a:t>
            </a:r>
            <a:r>
              <a:rPr lang="vi-VN" sz="1800" b="0" dirty="0">
                <a:ea typeface="+mj-lt"/>
                <a:cs typeface="+mj-lt"/>
              </a:rPr>
              <a:t> </a:t>
            </a:r>
            <a:r>
              <a:rPr lang="vi-VN" sz="1800" b="0" dirty="0" err="1">
                <a:ea typeface="+mj-lt"/>
                <a:cs typeface="+mj-lt"/>
              </a:rPr>
              <a:t>has</a:t>
            </a:r>
            <a:r>
              <a:rPr lang="vi-VN" sz="1800" b="0" dirty="0">
                <a:ea typeface="+mj-lt"/>
                <a:cs typeface="+mj-lt"/>
              </a:rPr>
              <a:t> an </a:t>
            </a:r>
            <a:r>
              <a:rPr lang="vi-VN" sz="1800" b="0" dirty="0" err="1">
                <a:ea typeface="+mj-lt"/>
                <a:cs typeface="+mj-lt"/>
              </a:rPr>
              <a:t>effect</a:t>
            </a:r>
            <a:r>
              <a:rPr lang="vi-VN" sz="1800" b="0" dirty="0">
                <a:ea typeface="+mj-lt"/>
                <a:cs typeface="+mj-lt"/>
              </a:rPr>
              <a:t> </a:t>
            </a:r>
            <a:r>
              <a:rPr lang="vi-VN" sz="1800" b="0" dirty="0" err="1">
                <a:ea typeface="+mj-lt"/>
                <a:cs typeface="+mj-lt"/>
              </a:rPr>
              <a:t>on</a:t>
            </a:r>
            <a:r>
              <a:rPr lang="vi-VN" sz="1800" b="0" dirty="0">
                <a:ea typeface="+mj-lt"/>
                <a:cs typeface="+mj-lt"/>
              </a:rPr>
              <a:t> </a:t>
            </a:r>
            <a:r>
              <a:rPr lang="vi-VN" sz="1800" b="0" dirty="0" err="1">
                <a:ea typeface="+mj-lt"/>
                <a:cs typeface="+mj-lt"/>
              </a:rPr>
              <a:t>price</a:t>
            </a:r>
            <a:r>
              <a:rPr lang="vi-VN" sz="1800" b="0" dirty="0">
                <a:ea typeface="+mj-lt"/>
                <a:cs typeface="+mj-lt"/>
              </a:rPr>
              <a:t>.</a:t>
            </a:r>
            <a:br>
              <a:rPr lang="vi-VN" sz="1800" b="0" dirty="0">
                <a:ea typeface="+mj-lt"/>
                <a:cs typeface="+mj-lt"/>
              </a:rPr>
            </a:br>
            <a:br>
              <a:rPr lang="vi-VN" sz="1800" b="0" dirty="0">
                <a:ea typeface="+mj-lt"/>
                <a:cs typeface="+mj-lt"/>
              </a:rPr>
            </a:br>
            <a:endParaRPr lang="vi-VN" sz="1800" b="0"/>
          </a:p>
        </p:txBody>
      </p:sp>
      <p:pic>
        <p:nvPicPr>
          <p:cNvPr id="4" name="Chỗ dành sẵn cho Nội dung 3" descr="Ảnh có chứa văn bản, ảnh chụp màn hình, Song song, biểu đồ&#10;&#10;Nội dung do AI tạo có thể không chính xác.">
            <a:extLst>
              <a:ext uri="{FF2B5EF4-FFF2-40B4-BE49-F238E27FC236}">
                <a16:creationId xmlns:a16="http://schemas.microsoft.com/office/drawing/2014/main" id="{A3A5986C-0F97-BDA8-52F0-134CAED7DF99}"/>
              </a:ext>
            </a:extLst>
          </p:cNvPr>
          <p:cNvPicPr>
            <a:picLocks noGrp="1" noChangeAspect="1"/>
          </p:cNvPicPr>
          <p:nvPr>
            <p:ph idx="1"/>
          </p:nvPr>
        </p:nvPicPr>
        <p:blipFill>
          <a:blip r:embed="rId2"/>
          <a:stretch>
            <a:fillRect/>
          </a:stretch>
        </p:blipFill>
        <p:spPr>
          <a:xfrm>
            <a:off x="5576977" y="1819101"/>
            <a:ext cx="6141227" cy="2071861"/>
          </a:xfrm>
        </p:spPr>
      </p:pic>
      <p:pic>
        <p:nvPicPr>
          <p:cNvPr id="5" name="Hình ảnh 4" descr="Ảnh có chứa văn bản, biểu đồ, ảnh chụp màn hình, số&#10;&#10;Nội dung do AI tạo có thể không chính xác.">
            <a:extLst>
              <a:ext uri="{FF2B5EF4-FFF2-40B4-BE49-F238E27FC236}">
                <a16:creationId xmlns:a16="http://schemas.microsoft.com/office/drawing/2014/main" id="{A46DEC52-1440-9FED-9F82-80E050B6F8E9}"/>
              </a:ext>
            </a:extLst>
          </p:cNvPr>
          <p:cNvPicPr>
            <a:picLocks noChangeAspect="1"/>
          </p:cNvPicPr>
          <p:nvPr/>
        </p:nvPicPr>
        <p:blipFill>
          <a:blip r:embed="rId3"/>
          <a:stretch>
            <a:fillRect/>
          </a:stretch>
        </p:blipFill>
        <p:spPr>
          <a:xfrm>
            <a:off x="5585460" y="4198620"/>
            <a:ext cx="6134100" cy="2339340"/>
          </a:xfrm>
          <a:prstGeom prst="rect">
            <a:avLst/>
          </a:prstGeom>
        </p:spPr>
      </p:pic>
    </p:spTree>
    <p:extLst>
      <p:ext uri="{BB962C8B-B14F-4D97-AF65-F5344CB8AC3E}">
        <p14:creationId xmlns:p14="http://schemas.microsoft.com/office/powerpoint/2010/main" val="2403374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3C51084-6868-6CAD-7E37-2DB85246759A}"/>
              </a:ext>
            </a:extLst>
          </p:cNvPr>
          <p:cNvSpPr>
            <a:spLocks noGrp="1"/>
          </p:cNvSpPr>
          <p:nvPr>
            <p:ph type="title"/>
          </p:nvPr>
        </p:nvSpPr>
        <p:spPr>
          <a:xfrm>
            <a:off x="131998" y="41646"/>
            <a:ext cx="9956747" cy="1438780"/>
          </a:xfrm>
        </p:spPr>
        <p:txBody>
          <a:bodyPr/>
          <a:lstStyle/>
          <a:p>
            <a:r>
              <a:rPr lang="vi-VN" b="1" dirty="0" err="1">
                <a:latin typeface="Times New Roman"/>
                <a:ea typeface="+mj-lt"/>
                <a:cs typeface="Times New Roman"/>
              </a:rPr>
              <a:t>Exploratory</a:t>
            </a:r>
            <a:r>
              <a:rPr lang="vi-VN" b="1" dirty="0">
                <a:latin typeface="Times New Roman"/>
                <a:ea typeface="+mj-lt"/>
                <a:cs typeface="Times New Roman"/>
              </a:rPr>
              <a:t> </a:t>
            </a:r>
            <a:r>
              <a:rPr lang="vi-VN" b="1" dirty="0" err="1">
                <a:latin typeface="Times New Roman"/>
                <a:ea typeface="+mj-lt"/>
                <a:cs typeface="Times New Roman"/>
              </a:rPr>
              <a:t>Data</a:t>
            </a:r>
            <a:r>
              <a:rPr lang="vi-VN" b="1" dirty="0">
                <a:latin typeface="Times New Roman"/>
                <a:ea typeface="+mj-lt"/>
                <a:cs typeface="Times New Roman"/>
              </a:rPr>
              <a:t> </a:t>
            </a:r>
            <a:r>
              <a:rPr lang="vi-VN" b="1" dirty="0" err="1">
                <a:latin typeface="Times New Roman"/>
                <a:ea typeface="+mj-lt"/>
                <a:cs typeface="Times New Roman"/>
              </a:rPr>
              <a:t>Analysis</a:t>
            </a:r>
            <a:endParaRPr lang="vi-VN" dirty="0" err="1">
              <a:latin typeface="Times New Roman"/>
              <a:cs typeface="Times New Roman"/>
            </a:endParaRPr>
          </a:p>
          <a:p>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E2673A27-60BB-7197-D51D-A8B6CF7BDCE3}"/>
              </a:ext>
            </a:extLst>
          </p:cNvPr>
          <p:cNvSpPr>
            <a:spLocks noGrp="1"/>
          </p:cNvSpPr>
          <p:nvPr>
            <p:ph idx="1"/>
          </p:nvPr>
        </p:nvSpPr>
        <p:spPr>
          <a:xfrm>
            <a:off x="152400" y="889494"/>
            <a:ext cx="11201400" cy="5287469"/>
          </a:xfrm>
        </p:spPr>
        <p:txBody>
          <a:bodyPr vert="horz" lIns="91440" tIns="45720" rIns="91440" bIns="45720" rtlCol="0" anchor="t">
            <a:normAutofit/>
          </a:bodyPr>
          <a:lstStyle/>
          <a:p>
            <a:pPr marL="0" indent="0">
              <a:buNone/>
            </a:pPr>
            <a:r>
              <a:rPr lang="vi-VN" dirty="0">
                <a:latin typeface="Arial"/>
                <a:ea typeface="+mn-lt"/>
                <a:cs typeface="Arial"/>
              </a:rPr>
              <a:t>-</a:t>
            </a:r>
            <a:r>
              <a:rPr lang="vi-VN" err="1">
                <a:latin typeface="Arial"/>
                <a:ea typeface="+mn-lt"/>
                <a:cs typeface="Arial"/>
              </a:rPr>
              <a:t>Analyzed</a:t>
            </a:r>
            <a:r>
              <a:rPr lang="vi-VN" dirty="0">
                <a:latin typeface="Arial"/>
                <a:ea typeface="+mn-lt"/>
                <a:cs typeface="Arial"/>
              </a:rPr>
              <a:t> </a:t>
            </a:r>
            <a:r>
              <a:rPr lang="vi-VN" err="1">
                <a:latin typeface="Arial"/>
                <a:ea typeface="+mn-lt"/>
                <a:cs typeface="Arial"/>
              </a:rPr>
              <a:t>feature</a:t>
            </a:r>
            <a:r>
              <a:rPr lang="vi-VN" dirty="0">
                <a:latin typeface="Arial"/>
                <a:ea typeface="+mn-lt"/>
                <a:cs typeface="Arial"/>
              </a:rPr>
              <a:t> </a:t>
            </a:r>
            <a:r>
              <a:rPr lang="vi-VN" err="1">
                <a:latin typeface="Arial"/>
                <a:ea typeface="+mn-lt"/>
                <a:cs typeface="Arial"/>
              </a:rPr>
              <a:t>correlations</a:t>
            </a:r>
            <a:r>
              <a:rPr lang="vi-VN" dirty="0">
                <a:latin typeface="Arial"/>
                <a:ea typeface="+mn-lt"/>
                <a:cs typeface="Arial"/>
              </a:rPr>
              <a:t> </a:t>
            </a:r>
            <a:r>
              <a:rPr lang="vi-VN" err="1">
                <a:latin typeface="Arial"/>
                <a:ea typeface="+mn-lt"/>
                <a:cs typeface="Arial"/>
              </a:rPr>
              <a:t>with</a:t>
            </a:r>
            <a:r>
              <a:rPr lang="vi-VN" dirty="0">
                <a:latin typeface="Arial"/>
                <a:ea typeface="+mn-lt"/>
                <a:cs typeface="Arial"/>
              </a:rPr>
              <a:t> </a:t>
            </a:r>
            <a:r>
              <a:rPr lang="vi-VN" err="1">
                <a:latin typeface="Arial"/>
                <a:ea typeface="+mn-lt"/>
                <a:cs typeface="Arial"/>
              </a:rPr>
              <a:t>price</a:t>
            </a:r>
            <a:r>
              <a:rPr lang="vi-VN" dirty="0">
                <a:latin typeface="Arial"/>
                <a:ea typeface="+mn-lt"/>
                <a:cs typeface="Arial"/>
              </a:rPr>
              <a:t>.</a:t>
            </a:r>
            <a:endParaRPr lang="vi-VN" dirty="0">
              <a:latin typeface="Arial"/>
              <a:cs typeface="Arial"/>
            </a:endParaRPr>
          </a:p>
          <a:p>
            <a:pPr marL="0" indent="0">
              <a:buNone/>
            </a:pPr>
            <a:endParaRPr lang="vi-VN" dirty="0">
              <a:latin typeface="Arial"/>
              <a:ea typeface="+mn-lt"/>
              <a:cs typeface="Arial"/>
            </a:endParaRPr>
          </a:p>
          <a:p>
            <a:pPr marL="0" indent="0">
              <a:buNone/>
            </a:pPr>
            <a:r>
              <a:rPr lang="vi-VN" dirty="0">
                <a:ea typeface="+mn-lt"/>
                <a:cs typeface="+mn-lt"/>
              </a:rPr>
              <a:t>-</a:t>
            </a:r>
            <a:r>
              <a:rPr lang="vi-VN" err="1">
                <a:ea typeface="+mn-lt"/>
                <a:cs typeface="+mn-lt"/>
              </a:rPr>
              <a:t>This</a:t>
            </a:r>
            <a:r>
              <a:rPr lang="vi-VN" dirty="0">
                <a:ea typeface="+mn-lt"/>
                <a:cs typeface="+mn-lt"/>
              </a:rPr>
              <a:t> </a:t>
            </a:r>
            <a:r>
              <a:rPr lang="vi-VN" err="1">
                <a:ea typeface="+mn-lt"/>
                <a:cs typeface="+mn-lt"/>
              </a:rPr>
              <a:t>allow</a:t>
            </a:r>
            <a:r>
              <a:rPr lang="vi-VN" dirty="0">
                <a:ea typeface="+mn-lt"/>
                <a:cs typeface="+mn-lt"/>
              </a:rPr>
              <a:t> </a:t>
            </a:r>
            <a:r>
              <a:rPr lang="vi-VN" err="1">
                <a:ea typeface="+mn-lt"/>
                <a:cs typeface="+mn-lt"/>
              </a:rPr>
              <a:t>us</a:t>
            </a:r>
            <a:r>
              <a:rPr lang="vi-VN" dirty="0">
                <a:ea typeface="+mn-lt"/>
                <a:cs typeface="+mn-lt"/>
              </a:rPr>
              <a:t> to </a:t>
            </a:r>
            <a:r>
              <a:rPr lang="vi-VN" err="1">
                <a:ea typeface="+mn-lt"/>
                <a:cs typeface="+mn-lt"/>
              </a:rPr>
              <a:t>explore</a:t>
            </a:r>
            <a:r>
              <a:rPr lang="vi-VN" dirty="0">
                <a:ea typeface="+mn-lt"/>
                <a:cs typeface="+mn-lt"/>
              </a:rPr>
              <a:t> </a:t>
            </a:r>
            <a:r>
              <a:rPr lang="vi-VN" err="1">
                <a:ea typeface="+mn-lt"/>
                <a:cs typeface="+mn-lt"/>
              </a:rPr>
              <a:t>labels</a:t>
            </a:r>
            <a:r>
              <a:rPr lang="vi-VN" dirty="0">
                <a:ea typeface="+mn-lt"/>
                <a:cs typeface="+mn-lt"/>
              </a:rPr>
              <a:t> </a:t>
            </a:r>
            <a:r>
              <a:rPr lang="vi-VN" err="1">
                <a:ea typeface="+mn-lt"/>
                <a:cs typeface="+mn-lt"/>
              </a:rPr>
              <a:t>that</a:t>
            </a:r>
            <a:r>
              <a:rPr lang="vi-VN" dirty="0">
                <a:ea typeface="+mn-lt"/>
                <a:cs typeface="+mn-lt"/>
              </a:rPr>
              <a:t> </a:t>
            </a:r>
            <a:r>
              <a:rPr lang="vi-VN" err="1">
                <a:ea typeface="+mn-lt"/>
                <a:cs typeface="+mn-lt"/>
              </a:rPr>
              <a:t>are</a:t>
            </a:r>
            <a:r>
              <a:rPr lang="vi-VN" dirty="0">
                <a:ea typeface="+mn-lt"/>
                <a:cs typeface="+mn-lt"/>
              </a:rPr>
              <a:t> </a:t>
            </a:r>
            <a:r>
              <a:rPr lang="vi-VN" err="1">
                <a:ea typeface="+mn-lt"/>
                <a:cs typeface="+mn-lt"/>
              </a:rPr>
              <a:t>highly</a:t>
            </a:r>
            <a:r>
              <a:rPr lang="vi-VN" dirty="0">
                <a:ea typeface="+mn-lt"/>
                <a:cs typeface="+mn-lt"/>
              </a:rPr>
              <a:t> </a:t>
            </a:r>
            <a:r>
              <a:rPr lang="vi-VN" err="1">
                <a:ea typeface="+mn-lt"/>
                <a:cs typeface="+mn-lt"/>
              </a:rPr>
              <a:t>correlated</a:t>
            </a:r>
            <a:endParaRPr lang="vi-VN" dirty="0">
              <a:ea typeface="+mn-lt"/>
              <a:cs typeface="+mn-lt"/>
            </a:endParaRPr>
          </a:p>
          <a:p>
            <a:pPr marL="0" indent="0">
              <a:buNone/>
            </a:pPr>
            <a:r>
              <a:rPr lang="vi-VN" dirty="0">
                <a:ea typeface="+mn-lt"/>
                <a:cs typeface="+mn-lt"/>
              </a:rPr>
              <a:t> to the </a:t>
            </a:r>
            <a:r>
              <a:rPr lang="vi-VN" err="1">
                <a:ea typeface="+mn-lt"/>
                <a:cs typeface="+mn-lt"/>
              </a:rPr>
              <a:t>price</a:t>
            </a:r>
            <a:r>
              <a:rPr lang="vi-VN" dirty="0">
                <a:ea typeface="+mn-lt"/>
                <a:cs typeface="+mn-lt"/>
              </a:rPr>
              <a:t>. -</a:t>
            </a:r>
            <a:r>
              <a:rPr lang="vi-VN" err="1">
                <a:ea typeface="+mn-lt"/>
                <a:cs typeface="+mn-lt"/>
              </a:rPr>
              <a:t>sqft_living</a:t>
            </a:r>
            <a:r>
              <a:rPr lang="vi-VN" dirty="0">
                <a:ea typeface="+mn-lt"/>
                <a:cs typeface="+mn-lt"/>
              </a:rPr>
              <a:t> </a:t>
            </a:r>
            <a:r>
              <a:rPr lang="vi-VN" err="1">
                <a:ea typeface="+mn-lt"/>
                <a:cs typeface="+mn-lt"/>
              </a:rPr>
              <a:t>looks</a:t>
            </a:r>
            <a:r>
              <a:rPr lang="vi-VN" dirty="0">
                <a:ea typeface="+mn-lt"/>
                <a:cs typeface="+mn-lt"/>
              </a:rPr>
              <a:t> </a:t>
            </a:r>
            <a:r>
              <a:rPr lang="vi-VN" err="1">
                <a:ea typeface="+mn-lt"/>
                <a:cs typeface="+mn-lt"/>
              </a:rPr>
              <a:t>like</a:t>
            </a:r>
            <a:r>
              <a:rPr lang="vi-VN" dirty="0">
                <a:ea typeface="+mn-lt"/>
                <a:cs typeface="+mn-lt"/>
              </a:rPr>
              <a:t> a </a:t>
            </a:r>
            <a:r>
              <a:rPr lang="vi-VN" err="1">
                <a:ea typeface="+mn-lt"/>
                <a:cs typeface="+mn-lt"/>
              </a:rPr>
              <a:t>highly</a:t>
            </a:r>
            <a:r>
              <a:rPr lang="vi-VN" dirty="0">
                <a:ea typeface="+mn-lt"/>
                <a:cs typeface="+mn-lt"/>
              </a:rPr>
              <a:t> </a:t>
            </a:r>
            <a:r>
              <a:rPr lang="vi-VN" err="1">
                <a:ea typeface="+mn-lt"/>
                <a:cs typeface="+mn-lt"/>
              </a:rPr>
              <a:t>correlated</a:t>
            </a:r>
            <a:r>
              <a:rPr lang="vi-VN" dirty="0">
                <a:ea typeface="+mn-lt"/>
                <a:cs typeface="+mn-lt"/>
              </a:rPr>
              <a:t> </a:t>
            </a:r>
            <a:r>
              <a:rPr lang="vi-VN" err="1">
                <a:ea typeface="+mn-lt"/>
                <a:cs typeface="+mn-lt"/>
              </a:rPr>
              <a:t>label</a:t>
            </a:r>
            <a:r>
              <a:rPr lang="vi-VN" dirty="0">
                <a:ea typeface="+mn-lt"/>
                <a:cs typeface="+mn-lt"/>
              </a:rPr>
              <a:t> </a:t>
            </a:r>
            <a:endParaRPr lang="vi-VN">
              <a:ea typeface="+mn-lt"/>
              <a:cs typeface="+mn-lt"/>
            </a:endParaRPr>
          </a:p>
          <a:p>
            <a:pPr marL="0" indent="0">
              <a:buNone/>
            </a:pPr>
            <a:r>
              <a:rPr lang="vi-VN" dirty="0">
                <a:ea typeface="+mn-lt"/>
                <a:cs typeface="+mn-lt"/>
              </a:rPr>
              <a:t>to the </a:t>
            </a:r>
            <a:r>
              <a:rPr lang="vi-VN" dirty="0" err="1">
                <a:ea typeface="+mn-lt"/>
                <a:cs typeface="+mn-lt"/>
              </a:rPr>
              <a:t>price</a:t>
            </a:r>
            <a:r>
              <a:rPr lang="vi-VN" dirty="0">
                <a:ea typeface="+mn-lt"/>
                <a:cs typeface="+mn-lt"/>
              </a:rPr>
              <a:t>, </a:t>
            </a:r>
            <a:r>
              <a:rPr lang="vi-VN" dirty="0" err="1">
                <a:ea typeface="+mn-lt"/>
                <a:cs typeface="+mn-lt"/>
              </a:rPr>
              <a:t>as</a:t>
            </a:r>
            <a:r>
              <a:rPr lang="vi-VN" dirty="0">
                <a:ea typeface="+mn-lt"/>
                <a:cs typeface="+mn-lt"/>
              </a:rPr>
              <a:t> </a:t>
            </a:r>
            <a:r>
              <a:rPr lang="vi-VN" dirty="0" err="1">
                <a:ea typeface="+mn-lt"/>
                <a:cs typeface="+mn-lt"/>
              </a:rPr>
              <a:t>well</a:t>
            </a:r>
            <a:r>
              <a:rPr lang="vi-VN" dirty="0">
                <a:ea typeface="+mn-lt"/>
                <a:cs typeface="+mn-lt"/>
              </a:rPr>
              <a:t> </a:t>
            </a:r>
            <a:r>
              <a:rPr lang="vi-VN" dirty="0" err="1">
                <a:ea typeface="+mn-lt"/>
                <a:cs typeface="+mn-lt"/>
              </a:rPr>
              <a:t>as</a:t>
            </a:r>
            <a:r>
              <a:rPr lang="vi-VN" dirty="0">
                <a:ea typeface="+mn-lt"/>
                <a:cs typeface="+mn-lt"/>
              </a:rPr>
              <a:t> </a:t>
            </a:r>
            <a:r>
              <a:rPr lang="vi-VN" dirty="0" err="1">
                <a:ea typeface="+mn-lt"/>
                <a:cs typeface="+mn-lt"/>
              </a:rPr>
              <a:t>grade</a:t>
            </a:r>
            <a:r>
              <a:rPr lang="vi-VN" dirty="0">
                <a:ea typeface="+mn-lt"/>
                <a:cs typeface="+mn-lt"/>
              </a:rPr>
              <a:t>, </a:t>
            </a:r>
            <a:r>
              <a:rPr lang="vi-VN" dirty="0" err="1">
                <a:ea typeface="+mn-lt"/>
                <a:cs typeface="+mn-lt"/>
              </a:rPr>
              <a:t>sqft_above</a:t>
            </a:r>
            <a:r>
              <a:rPr lang="vi-VN" dirty="0">
                <a:ea typeface="+mn-lt"/>
                <a:cs typeface="+mn-lt"/>
              </a:rPr>
              <a:t>, sqft_living15</a:t>
            </a:r>
          </a:p>
          <a:p>
            <a:pPr marL="0" indent="0">
              <a:buNone/>
            </a:pPr>
            <a:r>
              <a:rPr lang="vi-VN" dirty="0">
                <a:ea typeface="+mn-lt"/>
                <a:cs typeface="+mn-lt"/>
              </a:rPr>
              <a:t> </a:t>
            </a:r>
            <a:r>
              <a:rPr lang="vi-VN" dirty="0" err="1">
                <a:ea typeface="+mn-lt"/>
                <a:cs typeface="+mn-lt"/>
              </a:rPr>
              <a:t>and</a:t>
            </a:r>
            <a:r>
              <a:rPr lang="vi-VN" dirty="0">
                <a:ea typeface="+mn-lt"/>
                <a:cs typeface="+mn-lt"/>
              </a:rPr>
              <a:t> </a:t>
            </a:r>
            <a:r>
              <a:rPr lang="vi-VN" dirty="0" err="1">
                <a:ea typeface="+mn-lt"/>
                <a:cs typeface="+mn-lt"/>
              </a:rPr>
              <a:t>bathrooms</a:t>
            </a:r>
            <a:r>
              <a:rPr lang="vi-VN" dirty="0">
                <a:ea typeface="+mn-lt"/>
                <a:cs typeface="+mn-lt"/>
              </a:rPr>
              <a:t>.</a:t>
            </a:r>
            <a:endParaRPr lang="vi-VN" dirty="0"/>
          </a:p>
          <a:p>
            <a:pPr marL="0" indent="0">
              <a:buNone/>
            </a:pPr>
            <a:endParaRPr lang="vi-VN" dirty="0">
              <a:latin typeface="Arial"/>
              <a:ea typeface="+mn-lt"/>
              <a:cs typeface="Arial"/>
            </a:endParaRPr>
          </a:p>
          <a:p>
            <a:pPr marL="0" indent="0">
              <a:buNone/>
            </a:pPr>
            <a:r>
              <a:rPr lang="vi-VN" dirty="0">
                <a:latin typeface="Arial"/>
                <a:ea typeface="+mn-lt"/>
                <a:cs typeface="Arial"/>
              </a:rPr>
              <a:t>-</a:t>
            </a:r>
            <a:r>
              <a:rPr lang="vi-VN" err="1">
                <a:latin typeface="Arial"/>
                <a:cs typeface="Arial"/>
              </a:rPr>
              <a:t>Removed</a:t>
            </a:r>
            <a:r>
              <a:rPr lang="vi-VN" dirty="0">
                <a:latin typeface="Arial"/>
                <a:cs typeface="Arial"/>
              </a:rPr>
              <a:t> </a:t>
            </a:r>
            <a:r>
              <a:rPr lang="vi-VN" err="1">
                <a:latin typeface="Arial"/>
                <a:cs typeface="Arial"/>
              </a:rPr>
              <a:t>irrelevant</a:t>
            </a:r>
            <a:r>
              <a:rPr lang="vi-VN" dirty="0">
                <a:latin typeface="Arial"/>
                <a:cs typeface="Arial"/>
              </a:rPr>
              <a:t> </a:t>
            </a:r>
            <a:r>
              <a:rPr lang="vi-VN" err="1">
                <a:latin typeface="Arial"/>
                <a:cs typeface="Arial"/>
              </a:rPr>
              <a:t>or</a:t>
            </a:r>
            <a:r>
              <a:rPr lang="vi-VN" dirty="0">
                <a:latin typeface="Arial"/>
                <a:cs typeface="Arial"/>
              </a:rPr>
              <a:t> </a:t>
            </a:r>
            <a:r>
              <a:rPr lang="vi-VN" err="1">
                <a:latin typeface="Arial"/>
                <a:cs typeface="Arial"/>
              </a:rPr>
              <a:t>highly</a:t>
            </a:r>
            <a:r>
              <a:rPr lang="vi-VN" dirty="0">
                <a:latin typeface="Arial"/>
                <a:cs typeface="Arial"/>
              </a:rPr>
              <a:t> </a:t>
            </a:r>
            <a:r>
              <a:rPr lang="vi-VN" err="1">
                <a:latin typeface="Arial"/>
                <a:cs typeface="Arial"/>
              </a:rPr>
              <a:t>correlated</a:t>
            </a:r>
            <a:r>
              <a:rPr lang="vi-VN" dirty="0">
                <a:latin typeface="Arial"/>
                <a:cs typeface="Arial"/>
              </a:rPr>
              <a:t> </a:t>
            </a:r>
            <a:r>
              <a:rPr lang="vi-VN" err="1">
                <a:latin typeface="Arial"/>
                <a:cs typeface="Arial"/>
              </a:rPr>
              <a:t>features</a:t>
            </a:r>
            <a:r>
              <a:rPr lang="vi-VN" dirty="0">
                <a:latin typeface="Arial"/>
                <a:cs typeface="Arial"/>
              </a:rPr>
              <a:t> to </a:t>
            </a:r>
            <a:r>
              <a:rPr lang="vi-VN" err="1">
                <a:latin typeface="Arial"/>
                <a:cs typeface="Arial"/>
              </a:rPr>
              <a:t>improve</a:t>
            </a:r>
            <a:endParaRPr lang="vi-VN" dirty="0" err="1">
              <a:latin typeface="Arial"/>
              <a:cs typeface="Arial"/>
            </a:endParaRPr>
          </a:p>
          <a:p>
            <a:pPr marL="0" indent="0">
              <a:buNone/>
            </a:pPr>
            <a:r>
              <a:rPr lang="vi-VN" dirty="0">
                <a:latin typeface="Arial"/>
                <a:cs typeface="Arial"/>
              </a:rPr>
              <a:t> </a:t>
            </a:r>
            <a:r>
              <a:rPr lang="vi-VN" err="1">
                <a:latin typeface="Arial"/>
                <a:cs typeface="Arial"/>
              </a:rPr>
              <a:t>model</a:t>
            </a:r>
            <a:r>
              <a:rPr lang="vi-VN" dirty="0">
                <a:latin typeface="Arial"/>
                <a:cs typeface="Arial"/>
              </a:rPr>
              <a:t> </a:t>
            </a:r>
            <a:r>
              <a:rPr lang="vi-VN" err="1">
                <a:latin typeface="Arial"/>
                <a:cs typeface="Arial"/>
              </a:rPr>
              <a:t>efficiency</a:t>
            </a:r>
            <a:r>
              <a:rPr lang="vi-VN" dirty="0">
                <a:latin typeface="Arial"/>
                <a:cs typeface="Arial"/>
              </a:rPr>
              <a:t>.</a:t>
            </a:r>
            <a:endParaRPr lang="vi-VN"/>
          </a:p>
          <a:p>
            <a:endParaRPr lang="vi-VN" dirty="0">
              <a:latin typeface="Arial"/>
              <a:cs typeface="Arial"/>
            </a:endParaRPr>
          </a:p>
          <a:p>
            <a:endParaRPr lang="vi-VN" dirty="0">
              <a:latin typeface="Arial"/>
              <a:cs typeface="Arial"/>
            </a:endParaRPr>
          </a:p>
          <a:p>
            <a:endParaRPr lang="vi-VN" dirty="0">
              <a:latin typeface="Arial"/>
              <a:cs typeface="Arial"/>
            </a:endParaRPr>
          </a:p>
          <a:p>
            <a:endParaRPr lang="vi-VN" dirty="0">
              <a:latin typeface="Arial"/>
              <a:cs typeface="Arial"/>
            </a:endParaRPr>
          </a:p>
          <a:p>
            <a:pPr marL="0" indent="0">
              <a:buNone/>
            </a:pPr>
            <a:endParaRPr lang="vi-VN" dirty="0">
              <a:latin typeface="Arial"/>
              <a:cs typeface="Arial"/>
            </a:endParaRPr>
          </a:p>
          <a:p>
            <a:pPr marL="0" indent="0">
              <a:buNone/>
            </a:pPr>
            <a:endParaRPr lang="vi-VN" dirty="0">
              <a:latin typeface="Arial"/>
              <a:cs typeface="Arial"/>
            </a:endParaRPr>
          </a:p>
          <a:p>
            <a:pPr marL="0" indent="0">
              <a:buNone/>
            </a:pPr>
            <a:endParaRPr lang="vi-VN" dirty="0">
              <a:latin typeface="Arial"/>
              <a:cs typeface="Arial"/>
            </a:endParaRPr>
          </a:p>
          <a:p>
            <a:pPr marL="0" indent="0">
              <a:buNone/>
            </a:pPr>
            <a:endParaRPr lang="vi-VN">
              <a:latin typeface="Arial"/>
              <a:cs typeface="Arial"/>
            </a:endParaRPr>
          </a:p>
          <a:p>
            <a:endParaRPr lang="vi-VN" dirty="0">
              <a:latin typeface="Arial"/>
              <a:cs typeface="Arial"/>
            </a:endParaRPr>
          </a:p>
        </p:txBody>
      </p:sp>
      <p:pic>
        <p:nvPicPr>
          <p:cNvPr id="5" name="Hình ảnh 4" descr="Ảnh có chứa văn bản, ảnh chụp màn hình, hình vuông, mẫu&#10;&#10;Nội dung do AI tạo có thể không chính xác.">
            <a:extLst>
              <a:ext uri="{FF2B5EF4-FFF2-40B4-BE49-F238E27FC236}">
                <a16:creationId xmlns:a16="http://schemas.microsoft.com/office/drawing/2014/main" id="{2165AF65-1171-654B-3287-053EDBF9E028}"/>
              </a:ext>
            </a:extLst>
          </p:cNvPr>
          <p:cNvPicPr>
            <a:picLocks noChangeAspect="1"/>
          </p:cNvPicPr>
          <p:nvPr/>
        </p:nvPicPr>
        <p:blipFill>
          <a:blip r:embed="rId2"/>
          <a:stretch>
            <a:fillRect/>
          </a:stretch>
        </p:blipFill>
        <p:spPr>
          <a:xfrm>
            <a:off x="6642869" y="887307"/>
            <a:ext cx="5216471" cy="4219505"/>
          </a:xfrm>
          <a:prstGeom prst="rect">
            <a:avLst/>
          </a:prstGeom>
        </p:spPr>
      </p:pic>
    </p:spTree>
    <p:extLst>
      <p:ext uri="{BB962C8B-B14F-4D97-AF65-F5344CB8AC3E}">
        <p14:creationId xmlns:p14="http://schemas.microsoft.com/office/powerpoint/2010/main" val="1318010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048AD0A-5746-C805-FB1A-E7DACD353106}"/>
              </a:ext>
            </a:extLst>
          </p:cNvPr>
          <p:cNvSpPr>
            <a:spLocks noGrp="1"/>
          </p:cNvSpPr>
          <p:nvPr>
            <p:ph type="title"/>
          </p:nvPr>
        </p:nvSpPr>
        <p:spPr>
          <a:xfrm>
            <a:off x="661165" y="140424"/>
            <a:ext cx="9956747" cy="1438780"/>
          </a:xfrm>
        </p:spPr>
        <p:txBody>
          <a:bodyPr/>
          <a:lstStyle/>
          <a:p>
            <a:r>
              <a:rPr lang="vi-VN" b="1" dirty="0" err="1">
                <a:latin typeface="Times New Roman"/>
                <a:ea typeface="+mj-lt"/>
                <a:cs typeface="Times New Roman"/>
              </a:rPr>
              <a:t>Model</a:t>
            </a:r>
            <a:r>
              <a:rPr lang="vi-VN" b="1" dirty="0">
                <a:latin typeface="Times New Roman"/>
                <a:ea typeface="+mj-lt"/>
                <a:cs typeface="Times New Roman"/>
              </a:rPr>
              <a:t> </a:t>
            </a:r>
            <a:r>
              <a:rPr lang="vi-VN" b="1" dirty="0" err="1">
                <a:latin typeface="Times New Roman"/>
                <a:ea typeface="+mj-lt"/>
                <a:cs typeface="Times New Roman"/>
              </a:rPr>
              <a:t>Architecture</a:t>
            </a:r>
            <a:endParaRPr lang="vi-VN" dirty="0" err="1">
              <a:latin typeface="Times New Roman"/>
              <a:cs typeface="Times New Roman"/>
            </a:endParaRPr>
          </a:p>
          <a:p>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513BB9AB-B01B-C82B-AB83-3F6012FAD5D7}"/>
              </a:ext>
            </a:extLst>
          </p:cNvPr>
          <p:cNvSpPr>
            <a:spLocks noGrp="1"/>
          </p:cNvSpPr>
          <p:nvPr>
            <p:ph idx="1"/>
          </p:nvPr>
        </p:nvSpPr>
        <p:spPr>
          <a:xfrm>
            <a:off x="838200" y="1042459"/>
            <a:ext cx="10515600" cy="5134504"/>
          </a:xfrm>
        </p:spPr>
        <p:txBody>
          <a:bodyPr vert="horz" lIns="91440" tIns="45720" rIns="91440" bIns="45720" rtlCol="0" anchor="t">
            <a:normAutofit/>
          </a:bodyPr>
          <a:lstStyle/>
          <a:p>
            <a:pPr marL="0" indent="0">
              <a:buNone/>
            </a:pPr>
            <a:r>
              <a:rPr lang="vi-VN" dirty="0">
                <a:latin typeface="Arial"/>
                <a:ea typeface="+mn-lt"/>
                <a:cs typeface="Arial"/>
              </a:rPr>
              <a:t>-</a:t>
            </a:r>
            <a:r>
              <a:rPr lang="vi-VN" dirty="0" err="1">
                <a:latin typeface="Arial"/>
                <a:ea typeface="+mn-lt"/>
                <a:cs typeface="Arial"/>
              </a:rPr>
              <a:t>Built</a:t>
            </a:r>
            <a:r>
              <a:rPr lang="vi-VN" dirty="0">
                <a:latin typeface="Arial"/>
                <a:ea typeface="+mn-lt"/>
                <a:cs typeface="Arial"/>
              </a:rPr>
              <a:t> an </a:t>
            </a:r>
            <a:r>
              <a:rPr lang="vi-VN" dirty="0" err="1">
                <a:latin typeface="Arial"/>
                <a:ea typeface="+mn-lt"/>
                <a:cs typeface="Arial"/>
              </a:rPr>
              <a:t>Artificial</a:t>
            </a:r>
            <a:r>
              <a:rPr lang="vi-VN" dirty="0">
                <a:latin typeface="Arial"/>
                <a:ea typeface="+mn-lt"/>
                <a:cs typeface="Arial"/>
              </a:rPr>
              <a:t> </a:t>
            </a:r>
            <a:r>
              <a:rPr lang="vi-VN" dirty="0" err="1">
                <a:latin typeface="Arial"/>
                <a:ea typeface="+mn-lt"/>
                <a:cs typeface="Arial"/>
              </a:rPr>
              <a:t>Neural</a:t>
            </a:r>
            <a:r>
              <a:rPr lang="vi-VN" dirty="0">
                <a:latin typeface="Arial"/>
                <a:ea typeface="+mn-lt"/>
                <a:cs typeface="Arial"/>
              </a:rPr>
              <a:t> </a:t>
            </a:r>
            <a:r>
              <a:rPr lang="vi-VN" dirty="0" err="1">
                <a:latin typeface="Arial"/>
                <a:ea typeface="+mn-lt"/>
                <a:cs typeface="Arial"/>
              </a:rPr>
              <a:t>Network</a:t>
            </a:r>
            <a:r>
              <a:rPr lang="vi-VN" dirty="0">
                <a:latin typeface="Arial"/>
                <a:ea typeface="+mn-lt"/>
                <a:cs typeface="Arial"/>
              </a:rPr>
              <a:t> (ANN) </a:t>
            </a:r>
            <a:r>
              <a:rPr lang="vi-VN" dirty="0" err="1">
                <a:latin typeface="Arial"/>
                <a:ea typeface="+mn-lt"/>
                <a:cs typeface="Arial"/>
              </a:rPr>
              <a:t>using</a:t>
            </a:r>
            <a:r>
              <a:rPr lang="vi-VN" dirty="0">
                <a:latin typeface="Arial"/>
                <a:ea typeface="+mn-lt"/>
                <a:cs typeface="Arial"/>
              </a:rPr>
              <a:t> </a:t>
            </a:r>
            <a:r>
              <a:rPr lang="vi-VN" dirty="0" err="1">
                <a:latin typeface="Arial"/>
                <a:ea typeface="+mn-lt"/>
                <a:cs typeface="Arial"/>
              </a:rPr>
              <a:t>Keras</a:t>
            </a:r>
            <a:r>
              <a:rPr lang="vi-VN" dirty="0">
                <a:latin typeface="Arial"/>
                <a:ea typeface="+mn-lt"/>
                <a:cs typeface="Arial"/>
              </a:rPr>
              <a:t>.</a:t>
            </a:r>
            <a:endParaRPr lang="vi-VN" dirty="0">
              <a:latin typeface="Arial"/>
              <a:cs typeface="Arial"/>
            </a:endParaRPr>
          </a:p>
          <a:p>
            <a:pPr marL="0" indent="0">
              <a:buNone/>
            </a:pPr>
            <a:r>
              <a:rPr lang="vi-VN" dirty="0">
                <a:latin typeface="Arial"/>
                <a:ea typeface="+mn-lt"/>
                <a:cs typeface="Arial"/>
              </a:rPr>
              <a:t>-</a:t>
            </a:r>
            <a:r>
              <a:rPr lang="vi-VN" dirty="0" err="1">
                <a:latin typeface="Arial"/>
                <a:ea typeface="+mn-lt"/>
                <a:cs typeface="Arial"/>
              </a:rPr>
              <a:t>Layers</a:t>
            </a:r>
            <a:r>
              <a:rPr lang="vi-VN" dirty="0">
                <a:latin typeface="Arial"/>
                <a:ea typeface="+mn-lt"/>
                <a:cs typeface="Arial"/>
              </a:rPr>
              <a:t>: </a:t>
            </a:r>
            <a:r>
              <a:rPr lang="vi-VN" dirty="0" err="1">
                <a:latin typeface="Arial"/>
                <a:ea typeface="+mn-lt"/>
                <a:cs typeface="Arial"/>
              </a:rPr>
              <a:t>Input</a:t>
            </a:r>
            <a:r>
              <a:rPr lang="vi-VN" dirty="0">
                <a:latin typeface="Arial"/>
                <a:ea typeface="+mn-lt"/>
                <a:cs typeface="Arial"/>
              </a:rPr>
              <a:t> </a:t>
            </a:r>
            <a:r>
              <a:rPr lang="vi-VN" dirty="0" err="1">
                <a:latin typeface="Arial"/>
                <a:ea typeface="+mn-lt"/>
                <a:cs typeface="Arial"/>
              </a:rPr>
              <a:t>layer</a:t>
            </a:r>
            <a:r>
              <a:rPr lang="vi-VN" dirty="0">
                <a:latin typeface="Arial"/>
                <a:ea typeface="+mn-lt"/>
                <a:cs typeface="Arial"/>
              </a:rPr>
              <a:t> -&gt; </a:t>
            </a:r>
            <a:r>
              <a:rPr lang="vi-VN" dirty="0" err="1">
                <a:latin typeface="Arial"/>
                <a:ea typeface="+mn-lt"/>
                <a:cs typeface="Arial"/>
              </a:rPr>
              <a:t>Hidden</a:t>
            </a:r>
            <a:r>
              <a:rPr lang="vi-VN" dirty="0">
                <a:latin typeface="Arial"/>
                <a:ea typeface="+mn-lt"/>
                <a:cs typeface="Arial"/>
              </a:rPr>
              <a:t> </a:t>
            </a:r>
            <a:r>
              <a:rPr lang="vi-VN" dirty="0" err="1">
                <a:latin typeface="Arial"/>
                <a:ea typeface="+mn-lt"/>
                <a:cs typeface="Arial"/>
              </a:rPr>
              <a:t>layers</a:t>
            </a:r>
            <a:r>
              <a:rPr lang="vi-VN" dirty="0">
                <a:latin typeface="Arial"/>
                <a:ea typeface="+mn-lt"/>
                <a:cs typeface="Arial"/>
              </a:rPr>
              <a:t> </a:t>
            </a:r>
            <a:r>
              <a:rPr lang="vi-VN" dirty="0" err="1">
                <a:latin typeface="Arial"/>
                <a:ea typeface="+mn-lt"/>
                <a:cs typeface="Arial"/>
              </a:rPr>
              <a:t>with</a:t>
            </a:r>
            <a:r>
              <a:rPr lang="vi-VN" dirty="0">
                <a:latin typeface="Arial"/>
                <a:ea typeface="+mn-lt"/>
                <a:cs typeface="Arial"/>
              </a:rPr>
              <a:t> </a:t>
            </a:r>
            <a:r>
              <a:rPr lang="vi-VN" dirty="0" err="1">
                <a:latin typeface="Arial"/>
                <a:ea typeface="+mn-lt"/>
                <a:cs typeface="Arial"/>
              </a:rPr>
              <a:t>ReLU</a:t>
            </a:r>
            <a:r>
              <a:rPr lang="vi-VN" dirty="0">
                <a:latin typeface="Arial"/>
                <a:ea typeface="+mn-lt"/>
                <a:cs typeface="Arial"/>
              </a:rPr>
              <a:t> </a:t>
            </a:r>
            <a:r>
              <a:rPr lang="vi-VN" dirty="0" err="1">
                <a:latin typeface="Arial"/>
                <a:ea typeface="+mn-lt"/>
                <a:cs typeface="Arial"/>
              </a:rPr>
              <a:t>activation</a:t>
            </a:r>
            <a:r>
              <a:rPr lang="vi-VN" dirty="0">
                <a:latin typeface="Arial"/>
                <a:ea typeface="+mn-lt"/>
                <a:cs typeface="Arial"/>
              </a:rPr>
              <a:t> -&gt; </a:t>
            </a:r>
            <a:r>
              <a:rPr lang="vi-VN" dirty="0" err="1">
                <a:latin typeface="Arial"/>
                <a:ea typeface="+mn-lt"/>
                <a:cs typeface="Arial"/>
              </a:rPr>
              <a:t>Output</a:t>
            </a:r>
            <a:r>
              <a:rPr lang="vi-VN" dirty="0">
                <a:latin typeface="Arial"/>
                <a:ea typeface="+mn-lt"/>
                <a:cs typeface="Arial"/>
              </a:rPr>
              <a:t> </a:t>
            </a:r>
            <a:r>
              <a:rPr lang="vi-VN" dirty="0" err="1">
                <a:latin typeface="Arial"/>
                <a:ea typeface="+mn-lt"/>
                <a:cs typeface="Arial"/>
              </a:rPr>
              <a:t>layer</a:t>
            </a:r>
            <a:r>
              <a:rPr lang="vi-VN" dirty="0">
                <a:latin typeface="Arial"/>
                <a:ea typeface="+mn-lt"/>
                <a:cs typeface="Arial"/>
              </a:rPr>
              <a:t> </a:t>
            </a:r>
            <a:r>
              <a:rPr lang="vi-VN" dirty="0" err="1">
                <a:latin typeface="Arial"/>
                <a:ea typeface="+mn-lt"/>
                <a:cs typeface="Arial"/>
              </a:rPr>
              <a:t>with</a:t>
            </a:r>
            <a:r>
              <a:rPr lang="vi-VN" dirty="0">
                <a:latin typeface="Arial"/>
                <a:ea typeface="+mn-lt"/>
                <a:cs typeface="Arial"/>
              </a:rPr>
              <a:t> </a:t>
            </a:r>
            <a:r>
              <a:rPr lang="vi-VN" dirty="0" err="1">
                <a:latin typeface="Arial"/>
                <a:ea typeface="+mn-lt"/>
                <a:cs typeface="Arial"/>
              </a:rPr>
              <a:t>linear</a:t>
            </a:r>
            <a:r>
              <a:rPr lang="vi-VN" dirty="0">
                <a:latin typeface="Arial"/>
                <a:ea typeface="+mn-lt"/>
                <a:cs typeface="Arial"/>
              </a:rPr>
              <a:t> </a:t>
            </a:r>
            <a:r>
              <a:rPr lang="vi-VN" dirty="0" err="1">
                <a:latin typeface="Arial"/>
                <a:ea typeface="+mn-lt"/>
                <a:cs typeface="Arial"/>
              </a:rPr>
              <a:t>activation</a:t>
            </a:r>
            <a:r>
              <a:rPr lang="vi-VN" dirty="0">
                <a:latin typeface="Arial"/>
                <a:ea typeface="+mn-lt"/>
                <a:cs typeface="Arial"/>
              </a:rPr>
              <a:t>.</a:t>
            </a:r>
            <a:endParaRPr lang="vi-VN" dirty="0">
              <a:latin typeface="Arial"/>
              <a:cs typeface="Arial"/>
            </a:endParaRPr>
          </a:p>
          <a:p>
            <a:pPr marL="0" indent="0">
              <a:buNone/>
            </a:pPr>
            <a:r>
              <a:rPr lang="vi-VN" dirty="0">
                <a:latin typeface="Arial"/>
                <a:ea typeface="+mn-lt"/>
                <a:cs typeface="Arial"/>
              </a:rPr>
              <a:t>-</a:t>
            </a:r>
            <a:r>
              <a:rPr lang="vi-VN" dirty="0" err="1">
                <a:latin typeface="Arial"/>
                <a:ea typeface="+mn-lt"/>
                <a:cs typeface="Arial"/>
              </a:rPr>
              <a:t>Optimized</a:t>
            </a:r>
            <a:r>
              <a:rPr lang="vi-VN" dirty="0">
                <a:latin typeface="Arial"/>
                <a:ea typeface="+mn-lt"/>
                <a:cs typeface="Arial"/>
              </a:rPr>
              <a:t> </a:t>
            </a:r>
            <a:r>
              <a:rPr lang="vi-VN" dirty="0" err="1">
                <a:latin typeface="Arial"/>
                <a:ea typeface="+mn-lt"/>
                <a:cs typeface="Arial"/>
              </a:rPr>
              <a:t>with</a:t>
            </a:r>
            <a:r>
              <a:rPr lang="vi-VN" dirty="0">
                <a:latin typeface="Arial"/>
                <a:ea typeface="+mn-lt"/>
                <a:cs typeface="Arial"/>
              </a:rPr>
              <a:t> </a:t>
            </a:r>
            <a:r>
              <a:rPr lang="vi-VN" dirty="0" err="1">
                <a:latin typeface="Arial"/>
                <a:ea typeface="+mn-lt"/>
                <a:cs typeface="Arial"/>
              </a:rPr>
              <a:t>Adam</a:t>
            </a:r>
            <a:r>
              <a:rPr lang="vi-VN" dirty="0">
                <a:latin typeface="Arial"/>
                <a:ea typeface="+mn-lt"/>
                <a:cs typeface="Arial"/>
              </a:rPr>
              <a:t> </a:t>
            </a:r>
            <a:r>
              <a:rPr lang="vi-VN" dirty="0" err="1">
                <a:latin typeface="Arial"/>
                <a:ea typeface="+mn-lt"/>
                <a:cs typeface="Arial"/>
              </a:rPr>
              <a:t>optimizer</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a:t>
            </a:r>
            <a:r>
              <a:rPr lang="vi-VN" dirty="0" err="1">
                <a:latin typeface="Arial"/>
                <a:ea typeface="+mn-lt"/>
                <a:cs typeface="Arial"/>
              </a:rPr>
              <a:t>Mean</a:t>
            </a:r>
            <a:r>
              <a:rPr lang="vi-VN" dirty="0">
                <a:latin typeface="Arial"/>
                <a:ea typeface="+mn-lt"/>
                <a:cs typeface="Arial"/>
              </a:rPr>
              <a:t> </a:t>
            </a:r>
            <a:r>
              <a:rPr lang="vi-VN" dirty="0" err="1">
                <a:latin typeface="Arial"/>
                <a:ea typeface="+mn-lt"/>
                <a:cs typeface="Arial"/>
              </a:rPr>
              <a:t>Squared</a:t>
            </a:r>
            <a:r>
              <a:rPr lang="vi-VN" dirty="0">
                <a:latin typeface="Arial"/>
                <a:ea typeface="+mn-lt"/>
                <a:cs typeface="Arial"/>
              </a:rPr>
              <a:t> </a:t>
            </a:r>
            <a:r>
              <a:rPr lang="vi-VN" dirty="0" err="1">
                <a:latin typeface="Arial"/>
                <a:ea typeface="+mn-lt"/>
                <a:cs typeface="Arial"/>
              </a:rPr>
              <a:t>Error</a:t>
            </a:r>
            <a:r>
              <a:rPr lang="vi-VN" dirty="0">
                <a:latin typeface="Arial"/>
                <a:ea typeface="+mn-lt"/>
                <a:cs typeface="Arial"/>
              </a:rPr>
              <a:t> (MSE) </a:t>
            </a:r>
            <a:r>
              <a:rPr lang="vi-VN" dirty="0" err="1">
                <a:latin typeface="Arial"/>
                <a:ea typeface="+mn-lt"/>
                <a:cs typeface="Arial"/>
              </a:rPr>
              <a:t>loss</a:t>
            </a:r>
            <a:r>
              <a:rPr lang="vi-VN" dirty="0">
                <a:latin typeface="Arial"/>
                <a:ea typeface="+mn-lt"/>
                <a:cs typeface="Arial"/>
              </a:rPr>
              <a:t> </a:t>
            </a:r>
            <a:r>
              <a:rPr lang="vi-VN" dirty="0" err="1">
                <a:latin typeface="Arial"/>
                <a:ea typeface="+mn-lt"/>
                <a:cs typeface="Arial"/>
              </a:rPr>
              <a:t>function</a:t>
            </a:r>
            <a:r>
              <a:rPr lang="vi-VN" dirty="0">
                <a:latin typeface="Arial"/>
                <a:ea typeface="+mn-lt"/>
                <a:cs typeface="Arial"/>
              </a:rPr>
              <a:t>.</a:t>
            </a:r>
            <a:endParaRPr lang="vi-VN">
              <a:latin typeface="Arial"/>
              <a:cs typeface="Arial"/>
            </a:endParaRPr>
          </a:p>
          <a:p>
            <a:endParaRPr lang="vi-VN" dirty="0">
              <a:latin typeface="Arial"/>
              <a:cs typeface="Arial"/>
            </a:endParaRPr>
          </a:p>
        </p:txBody>
      </p:sp>
      <p:pic>
        <p:nvPicPr>
          <p:cNvPr id="4" name="Hình ảnh 3" descr="Ảnh có chứa văn bản, ảnh chụp màn hình&#10;&#10;Nội dung do AI tạo có thể không chính xác.">
            <a:extLst>
              <a:ext uri="{FF2B5EF4-FFF2-40B4-BE49-F238E27FC236}">
                <a16:creationId xmlns:a16="http://schemas.microsoft.com/office/drawing/2014/main" id="{994A1460-1FD4-78FA-9685-78D07B37C224}"/>
              </a:ext>
            </a:extLst>
          </p:cNvPr>
          <p:cNvPicPr>
            <a:picLocks noChangeAspect="1"/>
          </p:cNvPicPr>
          <p:nvPr/>
        </p:nvPicPr>
        <p:blipFill>
          <a:blip r:embed="rId2"/>
          <a:stretch>
            <a:fillRect/>
          </a:stretch>
        </p:blipFill>
        <p:spPr>
          <a:xfrm>
            <a:off x="838200" y="2416069"/>
            <a:ext cx="5894212" cy="2708276"/>
          </a:xfrm>
          <a:prstGeom prst="rect">
            <a:avLst/>
          </a:prstGeom>
        </p:spPr>
      </p:pic>
    </p:spTree>
    <p:extLst>
      <p:ext uri="{BB962C8B-B14F-4D97-AF65-F5344CB8AC3E}">
        <p14:creationId xmlns:p14="http://schemas.microsoft.com/office/powerpoint/2010/main" val="547879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0733369-3D3E-CD22-A1E5-722353640D87}"/>
              </a:ext>
            </a:extLst>
          </p:cNvPr>
          <p:cNvSpPr>
            <a:spLocks noGrp="1"/>
          </p:cNvSpPr>
          <p:nvPr>
            <p:ph type="title"/>
          </p:nvPr>
        </p:nvSpPr>
        <p:spPr/>
        <p:txBody>
          <a:bodyPr/>
          <a:lstStyle/>
          <a:p>
            <a:r>
              <a:rPr lang="vi-VN" b="1" dirty="0" err="1">
                <a:latin typeface="Times New Roman"/>
                <a:ea typeface="+mj-lt"/>
                <a:cs typeface="Times New Roman"/>
              </a:rPr>
              <a:t>Model</a:t>
            </a:r>
            <a:r>
              <a:rPr lang="vi-VN" b="1" dirty="0">
                <a:latin typeface="Times New Roman"/>
                <a:ea typeface="+mj-lt"/>
                <a:cs typeface="Times New Roman"/>
              </a:rPr>
              <a:t> </a:t>
            </a:r>
            <a:r>
              <a:rPr lang="vi-VN" b="1" dirty="0" err="1">
                <a:latin typeface="Times New Roman"/>
                <a:ea typeface="+mj-lt"/>
                <a:cs typeface="Times New Roman"/>
              </a:rPr>
              <a:t>Training</a:t>
            </a:r>
            <a:r>
              <a:rPr lang="vi-VN" b="1" dirty="0">
                <a:latin typeface="Times New Roman"/>
                <a:ea typeface="+mj-lt"/>
                <a:cs typeface="Times New Roman"/>
              </a:rPr>
              <a:t> &amp; </a:t>
            </a:r>
            <a:r>
              <a:rPr lang="vi-VN" b="1" dirty="0" err="1">
                <a:latin typeface="Times New Roman"/>
                <a:ea typeface="+mj-lt"/>
                <a:cs typeface="Times New Roman"/>
              </a:rPr>
              <a:t>Evaluation</a:t>
            </a:r>
            <a:endParaRPr lang="vi-VN" dirty="0" err="1">
              <a:latin typeface="Times New Roman"/>
              <a:cs typeface="Times New Roman"/>
            </a:endParaRPr>
          </a:p>
          <a:p>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DBFDC430-8166-82A5-A6CA-1DA8B450874C}"/>
              </a:ext>
            </a:extLst>
          </p:cNvPr>
          <p:cNvSpPr>
            <a:spLocks noGrp="1"/>
          </p:cNvSpPr>
          <p:nvPr>
            <p:ph idx="1"/>
          </p:nvPr>
        </p:nvSpPr>
        <p:spPr>
          <a:xfrm>
            <a:off x="307245" y="1565948"/>
            <a:ext cx="9956747" cy="5140181"/>
          </a:xfrm>
        </p:spPr>
        <p:txBody>
          <a:bodyPr vert="horz" lIns="91440" tIns="45720" rIns="91440" bIns="45720" rtlCol="0" anchor="t">
            <a:noAutofit/>
          </a:bodyPr>
          <a:lstStyle/>
          <a:p>
            <a:pPr marL="0" indent="0">
              <a:buNone/>
            </a:pPr>
            <a:r>
              <a:rPr lang="vi-VN" sz="1400" dirty="0">
                <a:latin typeface="Arial"/>
                <a:ea typeface="+mn-lt"/>
                <a:cs typeface="Arial"/>
              </a:rPr>
              <a:t>-</a:t>
            </a:r>
            <a:r>
              <a:rPr lang="vi-VN" sz="1400" err="1">
                <a:latin typeface="Arial"/>
                <a:ea typeface="+mn-lt"/>
                <a:cs typeface="Arial"/>
              </a:rPr>
              <a:t>Split</a:t>
            </a:r>
            <a:r>
              <a:rPr lang="vi-VN" sz="1400" dirty="0">
                <a:latin typeface="Arial"/>
                <a:ea typeface="+mn-lt"/>
                <a:cs typeface="Arial"/>
              </a:rPr>
              <a:t> </a:t>
            </a:r>
            <a:r>
              <a:rPr lang="vi-VN" sz="1400" err="1">
                <a:latin typeface="Arial"/>
                <a:ea typeface="+mn-lt"/>
                <a:cs typeface="Arial"/>
              </a:rPr>
              <a:t>data</a:t>
            </a:r>
            <a:r>
              <a:rPr lang="vi-VN" sz="1400" dirty="0">
                <a:latin typeface="Arial"/>
                <a:ea typeface="+mn-lt"/>
                <a:cs typeface="Arial"/>
              </a:rPr>
              <a:t> </a:t>
            </a:r>
            <a:r>
              <a:rPr lang="vi-VN" sz="1400" err="1">
                <a:latin typeface="Arial"/>
                <a:ea typeface="+mn-lt"/>
                <a:cs typeface="Arial"/>
              </a:rPr>
              <a:t>into</a:t>
            </a:r>
            <a:r>
              <a:rPr lang="vi-VN" sz="1400" dirty="0">
                <a:latin typeface="Arial"/>
                <a:ea typeface="+mn-lt"/>
                <a:cs typeface="Arial"/>
              </a:rPr>
              <a:t> </a:t>
            </a:r>
            <a:r>
              <a:rPr lang="vi-VN" sz="1400" err="1">
                <a:latin typeface="Arial"/>
                <a:ea typeface="+mn-lt"/>
                <a:cs typeface="Arial"/>
              </a:rPr>
              <a:t>training</a:t>
            </a:r>
            <a:r>
              <a:rPr lang="vi-VN" sz="1400" dirty="0">
                <a:latin typeface="Arial"/>
                <a:ea typeface="+mn-lt"/>
                <a:cs typeface="Arial"/>
              </a:rPr>
              <a:t> </a:t>
            </a:r>
            <a:r>
              <a:rPr lang="vi-VN" sz="1400" err="1">
                <a:latin typeface="Arial"/>
                <a:ea typeface="+mn-lt"/>
                <a:cs typeface="Arial"/>
              </a:rPr>
              <a:t>and</a:t>
            </a:r>
            <a:r>
              <a:rPr lang="vi-VN" sz="1400" dirty="0">
                <a:latin typeface="Arial"/>
                <a:ea typeface="+mn-lt"/>
                <a:cs typeface="Arial"/>
              </a:rPr>
              <a:t> </a:t>
            </a:r>
            <a:r>
              <a:rPr lang="vi-VN" sz="1400" err="1">
                <a:latin typeface="Arial"/>
                <a:ea typeface="+mn-lt"/>
                <a:cs typeface="Arial"/>
              </a:rPr>
              <a:t>testing</a:t>
            </a:r>
            <a:r>
              <a:rPr lang="vi-VN" sz="1400" dirty="0">
                <a:latin typeface="Arial"/>
                <a:ea typeface="+mn-lt"/>
                <a:cs typeface="Arial"/>
              </a:rPr>
              <a:t> </a:t>
            </a:r>
            <a:r>
              <a:rPr lang="vi-VN" sz="1400" err="1">
                <a:latin typeface="Arial"/>
                <a:ea typeface="+mn-lt"/>
                <a:cs typeface="Arial"/>
              </a:rPr>
              <a:t>sets</a:t>
            </a:r>
            <a:r>
              <a:rPr lang="vi-VN" sz="1400" dirty="0">
                <a:latin typeface="Arial"/>
                <a:ea typeface="+mn-lt"/>
                <a:cs typeface="Arial"/>
              </a:rPr>
              <a:t> (80-20 </a:t>
            </a:r>
            <a:r>
              <a:rPr lang="vi-VN" sz="1400" err="1">
                <a:latin typeface="Arial"/>
                <a:ea typeface="+mn-lt"/>
                <a:cs typeface="Arial"/>
              </a:rPr>
              <a:t>ratio</a:t>
            </a:r>
            <a:r>
              <a:rPr lang="vi-VN" sz="1400" dirty="0">
                <a:latin typeface="Arial"/>
                <a:ea typeface="+mn-lt"/>
                <a:cs typeface="Arial"/>
              </a:rPr>
              <a:t>).</a:t>
            </a:r>
            <a:endParaRPr lang="vi-VN" sz="1400" dirty="0">
              <a:latin typeface="Arial"/>
              <a:cs typeface="Arial"/>
            </a:endParaRPr>
          </a:p>
          <a:p>
            <a:pPr marL="0" indent="0">
              <a:buNone/>
            </a:pPr>
            <a:r>
              <a:rPr lang="vi-VN" sz="1400" dirty="0">
                <a:latin typeface="Arial"/>
                <a:ea typeface="+mn-lt"/>
                <a:cs typeface="Arial"/>
              </a:rPr>
              <a:t>-</a:t>
            </a:r>
            <a:r>
              <a:rPr lang="vi-VN" sz="1400" err="1">
                <a:latin typeface="Arial"/>
                <a:ea typeface="+mn-lt"/>
                <a:cs typeface="Arial"/>
              </a:rPr>
              <a:t>Trained</a:t>
            </a:r>
            <a:r>
              <a:rPr lang="vi-VN" sz="1400" dirty="0">
                <a:latin typeface="Arial"/>
                <a:ea typeface="+mn-lt"/>
                <a:cs typeface="Arial"/>
              </a:rPr>
              <a:t> the </a:t>
            </a:r>
            <a:r>
              <a:rPr lang="vi-VN" sz="1400" err="1">
                <a:latin typeface="Arial"/>
                <a:ea typeface="+mn-lt"/>
                <a:cs typeface="Arial"/>
              </a:rPr>
              <a:t>model</a:t>
            </a:r>
            <a:r>
              <a:rPr lang="vi-VN" sz="1400" dirty="0">
                <a:latin typeface="Arial"/>
                <a:ea typeface="+mn-lt"/>
                <a:cs typeface="Arial"/>
              </a:rPr>
              <a:t> </a:t>
            </a:r>
            <a:r>
              <a:rPr lang="vi-VN" sz="1400" err="1">
                <a:latin typeface="Arial"/>
                <a:ea typeface="+mn-lt"/>
                <a:cs typeface="Arial"/>
              </a:rPr>
              <a:t>using</a:t>
            </a:r>
            <a:r>
              <a:rPr lang="vi-VN" sz="1400" dirty="0">
                <a:latin typeface="Arial"/>
                <a:ea typeface="+mn-lt"/>
                <a:cs typeface="Arial"/>
              </a:rPr>
              <a:t> 400 </a:t>
            </a:r>
            <a:r>
              <a:rPr lang="vi-VN" sz="1400" err="1">
                <a:latin typeface="Arial"/>
                <a:ea typeface="+mn-lt"/>
                <a:cs typeface="Arial"/>
              </a:rPr>
              <a:t>epochs</a:t>
            </a:r>
            <a:r>
              <a:rPr lang="vi-VN" sz="1400" dirty="0">
                <a:latin typeface="Arial"/>
                <a:ea typeface="+mn-lt"/>
                <a:cs typeface="Arial"/>
              </a:rPr>
              <a:t> </a:t>
            </a:r>
            <a:r>
              <a:rPr lang="vi-VN" sz="1400" err="1">
                <a:latin typeface="Arial"/>
                <a:ea typeface="+mn-lt"/>
                <a:cs typeface="Arial"/>
              </a:rPr>
              <a:t>with</a:t>
            </a:r>
            <a:r>
              <a:rPr lang="vi-VN" sz="1400" dirty="0">
                <a:latin typeface="Arial"/>
                <a:ea typeface="+mn-lt"/>
                <a:cs typeface="Arial"/>
              </a:rPr>
              <a:t> </a:t>
            </a:r>
            <a:r>
              <a:rPr lang="vi-VN" sz="1400" err="1">
                <a:latin typeface="Arial"/>
                <a:ea typeface="+mn-lt"/>
                <a:cs typeface="Arial"/>
              </a:rPr>
              <a:t>batch</a:t>
            </a:r>
            <a:r>
              <a:rPr lang="vi-VN" sz="1400" dirty="0">
                <a:latin typeface="Arial"/>
                <a:ea typeface="+mn-lt"/>
                <a:cs typeface="Arial"/>
              </a:rPr>
              <a:t> </a:t>
            </a:r>
            <a:r>
              <a:rPr lang="vi-VN" sz="1400" err="1">
                <a:latin typeface="Arial"/>
                <a:ea typeface="+mn-lt"/>
                <a:cs typeface="Arial"/>
              </a:rPr>
              <a:t>size</a:t>
            </a:r>
            <a:r>
              <a:rPr lang="vi-VN" sz="1400" dirty="0">
                <a:latin typeface="Arial"/>
                <a:ea typeface="+mn-lt"/>
                <a:cs typeface="Arial"/>
              </a:rPr>
              <a:t> 128.</a:t>
            </a:r>
            <a:endParaRPr lang="vi-VN" sz="1400" dirty="0">
              <a:latin typeface="Arial"/>
              <a:cs typeface="Arial"/>
            </a:endParaRPr>
          </a:p>
          <a:p>
            <a:pPr marL="0" indent="0">
              <a:buNone/>
            </a:pPr>
            <a:r>
              <a:rPr lang="vi-VN" sz="1400" dirty="0">
                <a:latin typeface="Arial"/>
                <a:ea typeface="+mn-lt"/>
                <a:cs typeface="Arial"/>
              </a:rPr>
              <a:t>-</a:t>
            </a:r>
            <a:r>
              <a:rPr lang="vi-VN" sz="1400" err="1">
                <a:latin typeface="Arial"/>
                <a:ea typeface="+mn-lt"/>
                <a:cs typeface="Arial"/>
              </a:rPr>
              <a:t>Performance</a:t>
            </a:r>
            <a:r>
              <a:rPr lang="vi-VN" sz="1400" dirty="0">
                <a:latin typeface="Arial"/>
                <a:ea typeface="+mn-lt"/>
                <a:cs typeface="Arial"/>
              </a:rPr>
              <a:t> </a:t>
            </a:r>
            <a:r>
              <a:rPr lang="vi-VN" sz="1400" err="1">
                <a:latin typeface="Arial"/>
                <a:ea typeface="+mn-lt"/>
                <a:cs typeface="Arial"/>
              </a:rPr>
              <a:t>Metrics</a:t>
            </a:r>
            <a:r>
              <a:rPr lang="vi-VN" sz="1400" dirty="0">
                <a:latin typeface="Arial"/>
                <a:ea typeface="+mn-lt"/>
                <a:cs typeface="Arial"/>
              </a:rPr>
              <a:t>:</a:t>
            </a:r>
            <a:endParaRPr lang="vi-VN" sz="1400" dirty="0">
              <a:latin typeface="Arial"/>
              <a:cs typeface="Arial"/>
            </a:endParaRPr>
          </a:p>
          <a:p>
            <a:pPr marL="0" indent="0">
              <a:buNone/>
            </a:pPr>
            <a:r>
              <a:rPr lang="vi-VN" sz="1400" b="1" dirty="0">
                <a:latin typeface="Arial"/>
                <a:ea typeface="+mn-lt"/>
                <a:cs typeface="Arial"/>
              </a:rPr>
              <a:t>-</a:t>
            </a:r>
            <a:r>
              <a:rPr lang="vi-VN" sz="1400" b="1" dirty="0" err="1">
                <a:latin typeface="Arial"/>
                <a:ea typeface="+mn-lt"/>
                <a:cs typeface="Arial"/>
              </a:rPr>
              <a:t>Mean</a:t>
            </a:r>
            <a:r>
              <a:rPr lang="vi-VN" sz="1400" b="1" dirty="0">
                <a:latin typeface="Arial"/>
                <a:ea typeface="+mn-lt"/>
                <a:cs typeface="Arial"/>
              </a:rPr>
              <a:t> </a:t>
            </a:r>
            <a:r>
              <a:rPr lang="vi-VN" sz="1400" b="1" dirty="0" err="1">
                <a:latin typeface="Arial"/>
                <a:ea typeface="+mn-lt"/>
                <a:cs typeface="Arial"/>
              </a:rPr>
              <a:t>Absolute</a:t>
            </a:r>
            <a:r>
              <a:rPr lang="vi-VN" sz="1400" b="1" dirty="0">
                <a:latin typeface="Arial"/>
                <a:ea typeface="+mn-lt"/>
                <a:cs typeface="Arial"/>
              </a:rPr>
              <a:t> </a:t>
            </a:r>
            <a:r>
              <a:rPr lang="vi-VN" sz="1400" b="1" dirty="0" err="1">
                <a:latin typeface="Arial"/>
                <a:ea typeface="+mn-lt"/>
                <a:cs typeface="Arial"/>
              </a:rPr>
              <a:t>Error</a:t>
            </a:r>
            <a:r>
              <a:rPr lang="vi-VN" sz="1400" b="1" dirty="0">
                <a:latin typeface="Arial"/>
                <a:ea typeface="+mn-lt"/>
                <a:cs typeface="Arial"/>
              </a:rPr>
              <a:t> (MAE)</a:t>
            </a:r>
            <a:r>
              <a:rPr lang="vi-VN" sz="1400" dirty="0">
                <a:latin typeface="Arial"/>
                <a:ea typeface="+mn-lt"/>
                <a:cs typeface="Arial"/>
              </a:rPr>
              <a:t>: 105,289.63, </a:t>
            </a:r>
            <a:r>
              <a:rPr lang="vi-VN" sz="1400" dirty="0" err="1">
                <a:latin typeface="Arial"/>
                <a:ea typeface="+mn-lt"/>
                <a:cs typeface="Arial"/>
              </a:rPr>
              <a:t>indicating</a:t>
            </a:r>
            <a:r>
              <a:rPr lang="vi-VN" sz="1400" dirty="0">
                <a:latin typeface="Arial"/>
                <a:ea typeface="+mn-lt"/>
                <a:cs typeface="Arial"/>
              </a:rPr>
              <a:t> </a:t>
            </a:r>
            <a:r>
              <a:rPr lang="vi-VN" sz="1400" dirty="0" err="1">
                <a:latin typeface="Arial"/>
                <a:ea typeface="+mn-lt"/>
                <a:cs typeface="Arial"/>
              </a:rPr>
              <a:t>that</a:t>
            </a:r>
            <a:r>
              <a:rPr lang="vi-VN" sz="1400" dirty="0">
                <a:latin typeface="Arial"/>
                <a:ea typeface="+mn-lt"/>
                <a:cs typeface="Arial"/>
              </a:rPr>
              <a:t>, </a:t>
            </a:r>
            <a:r>
              <a:rPr lang="vi-VN" sz="1400" dirty="0" err="1">
                <a:latin typeface="Arial"/>
                <a:ea typeface="+mn-lt"/>
                <a:cs typeface="Arial"/>
              </a:rPr>
              <a:t>on</a:t>
            </a:r>
            <a:r>
              <a:rPr lang="vi-VN" sz="1400" dirty="0">
                <a:latin typeface="Arial"/>
                <a:ea typeface="+mn-lt"/>
                <a:cs typeface="Arial"/>
              </a:rPr>
              <a:t> </a:t>
            </a:r>
            <a:r>
              <a:rPr lang="vi-VN" sz="1400" dirty="0" err="1">
                <a:latin typeface="Arial"/>
                <a:ea typeface="+mn-lt"/>
                <a:cs typeface="Arial"/>
              </a:rPr>
              <a:t>average</a:t>
            </a:r>
            <a:r>
              <a:rPr lang="vi-VN" sz="1400" dirty="0">
                <a:latin typeface="Arial"/>
                <a:ea typeface="+mn-lt"/>
                <a:cs typeface="Arial"/>
              </a:rPr>
              <a:t>, the </a:t>
            </a:r>
            <a:r>
              <a:rPr lang="vi-VN" sz="1400" dirty="0" err="1">
                <a:latin typeface="Arial"/>
                <a:ea typeface="+mn-lt"/>
                <a:cs typeface="Arial"/>
              </a:rPr>
              <a:t>model’s</a:t>
            </a:r>
            <a:r>
              <a:rPr lang="vi-VN" sz="1400" dirty="0">
                <a:latin typeface="Arial"/>
                <a:ea typeface="+mn-lt"/>
                <a:cs typeface="Arial"/>
              </a:rPr>
              <a:t> </a:t>
            </a:r>
            <a:r>
              <a:rPr lang="vi-VN" sz="1400" dirty="0" err="1">
                <a:latin typeface="Arial"/>
                <a:ea typeface="+mn-lt"/>
                <a:cs typeface="Arial"/>
              </a:rPr>
              <a:t>predictions</a:t>
            </a:r>
            <a:r>
              <a:rPr lang="vi-VN" sz="1400" dirty="0">
                <a:latin typeface="Arial"/>
                <a:ea typeface="+mn-lt"/>
                <a:cs typeface="Arial"/>
              </a:rPr>
              <a:t> </a:t>
            </a:r>
            <a:r>
              <a:rPr lang="vi-VN" sz="1400" dirty="0" err="1">
                <a:latin typeface="Arial"/>
                <a:ea typeface="+mn-lt"/>
                <a:cs typeface="Arial"/>
              </a:rPr>
              <a:t>deviate</a:t>
            </a:r>
            <a:r>
              <a:rPr lang="vi-VN" sz="1400" dirty="0">
                <a:latin typeface="Arial"/>
                <a:ea typeface="+mn-lt"/>
                <a:cs typeface="Arial"/>
              </a:rPr>
              <a:t> </a:t>
            </a:r>
            <a:r>
              <a:rPr lang="vi-VN" sz="1400" dirty="0" err="1">
                <a:latin typeface="Arial"/>
                <a:ea typeface="+mn-lt"/>
                <a:cs typeface="Arial"/>
              </a:rPr>
              <a:t>by</a:t>
            </a:r>
            <a:r>
              <a:rPr lang="vi-VN" sz="1400" dirty="0">
                <a:latin typeface="Arial"/>
                <a:ea typeface="+mn-lt"/>
                <a:cs typeface="Arial"/>
              </a:rPr>
              <a:t> </a:t>
            </a:r>
            <a:r>
              <a:rPr lang="vi-VN" sz="1400" dirty="0" err="1">
                <a:latin typeface="Arial"/>
                <a:ea typeface="+mn-lt"/>
                <a:cs typeface="Arial"/>
              </a:rPr>
              <a:t>approximately</a:t>
            </a:r>
            <a:r>
              <a:rPr lang="vi-VN" sz="1400" dirty="0">
                <a:latin typeface="Arial"/>
                <a:ea typeface="+mn-lt"/>
                <a:cs typeface="Arial"/>
              </a:rPr>
              <a:t> 105,289 USD </a:t>
            </a:r>
            <a:r>
              <a:rPr lang="vi-VN" sz="1400" dirty="0" err="1">
                <a:latin typeface="Arial"/>
                <a:ea typeface="+mn-lt"/>
                <a:cs typeface="Arial"/>
              </a:rPr>
              <a:t>from</a:t>
            </a:r>
            <a:r>
              <a:rPr lang="vi-VN" sz="1400" dirty="0">
                <a:latin typeface="Arial"/>
                <a:ea typeface="+mn-lt"/>
                <a:cs typeface="Arial"/>
              </a:rPr>
              <a:t> the </a:t>
            </a:r>
            <a:r>
              <a:rPr lang="vi-VN" sz="1400" dirty="0" err="1">
                <a:latin typeface="Arial"/>
                <a:ea typeface="+mn-lt"/>
                <a:cs typeface="Arial"/>
              </a:rPr>
              <a:t>actual</a:t>
            </a:r>
            <a:r>
              <a:rPr lang="vi-VN" sz="1400" dirty="0">
                <a:latin typeface="Arial"/>
                <a:ea typeface="+mn-lt"/>
                <a:cs typeface="Arial"/>
              </a:rPr>
              <a:t> </a:t>
            </a:r>
            <a:r>
              <a:rPr lang="vi-VN" sz="1400" dirty="0" err="1">
                <a:latin typeface="Arial"/>
                <a:ea typeface="+mn-lt"/>
                <a:cs typeface="Arial"/>
              </a:rPr>
              <a:t>prices</a:t>
            </a:r>
            <a:r>
              <a:rPr lang="vi-VN" sz="1400" dirty="0">
                <a:latin typeface="Arial"/>
                <a:ea typeface="+mn-lt"/>
                <a:cs typeface="Arial"/>
              </a:rPr>
              <a:t>.</a:t>
            </a:r>
            <a:endParaRPr lang="vi-VN" sz="1400"/>
          </a:p>
          <a:p>
            <a:pPr marL="0" indent="0">
              <a:buNone/>
            </a:pPr>
            <a:r>
              <a:rPr lang="vi-VN" sz="1400" b="1" dirty="0">
                <a:latin typeface="Arial"/>
                <a:ea typeface="+mn-lt"/>
                <a:cs typeface="Arial"/>
              </a:rPr>
              <a:t>-</a:t>
            </a:r>
            <a:r>
              <a:rPr lang="vi-VN" sz="1400" b="1" dirty="0" err="1">
                <a:latin typeface="Arial"/>
                <a:ea typeface="+mn-lt"/>
                <a:cs typeface="Arial"/>
              </a:rPr>
              <a:t>Mean</a:t>
            </a:r>
            <a:r>
              <a:rPr lang="vi-VN" sz="1400" b="1" dirty="0">
                <a:latin typeface="Arial"/>
                <a:ea typeface="+mn-lt"/>
                <a:cs typeface="Arial"/>
              </a:rPr>
              <a:t> </a:t>
            </a:r>
            <a:r>
              <a:rPr lang="vi-VN" sz="1400" b="1" dirty="0" err="1">
                <a:latin typeface="Arial"/>
                <a:ea typeface="+mn-lt"/>
                <a:cs typeface="Arial"/>
              </a:rPr>
              <a:t>Squared</a:t>
            </a:r>
            <a:r>
              <a:rPr lang="vi-VN" sz="1400" b="1" dirty="0">
                <a:latin typeface="Arial"/>
                <a:ea typeface="+mn-lt"/>
                <a:cs typeface="Arial"/>
              </a:rPr>
              <a:t> </a:t>
            </a:r>
            <a:r>
              <a:rPr lang="vi-VN" sz="1400" b="1" dirty="0" err="1">
                <a:latin typeface="Arial"/>
                <a:ea typeface="+mn-lt"/>
                <a:cs typeface="Arial"/>
              </a:rPr>
              <a:t>Error</a:t>
            </a:r>
            <a:r>
              <a:rPr lang="vi-VN" sz="1400" b="1" dirty="0">
                <a:latin typeface="Arial"/>
                <a:ea typeface="+mn-lt"/>
                <a:cs typeface="Arial"/>
              </a:rPr>
              <a:t> (MSE)</a:t>
            </a:r>
            <a:r>
              <a:rPr lang="vi-VN" sz="1400" dirty="0">
                <a:latin typeface="Arial"/>
                <a:ea typeface="+mn-lt"/>
                <a:cs typeface="Arial"/>
              </a:rPr>
              <a:t>: 29,066,826,904.82, a </a:t>
            </a:r>
            <a:r>
              <a:rPr lang="vi-VN" sz="1400" dirty="0" err="1">
                <a:latin typeface="Arial"/>
                <a:ea typeface="+mn-lt"/>
                <a:cs typeface="Arial"/>
              </a:rPr>
              <a:t>measure</a:t>
            </a:r>
            <a:r>
              <a:rPr lang="vi-VN" sz="1400" dirty="0">
                <a:latin typeface="Arial"/>
                <a:ea typeface="+mn-lt"/>
                <a:cs typeface="Arial"/>
              </a:rPr>
              <a:t> </a:t>
            </a:r>
            <a:r>
              <a:rPr lang="vi-VN" sz="1400" dirty="0" err="1">
                <a:latin typeface="Arial"/>
                <a:ea typeface="+mn-lt"/>
                <a:cs typeface="Arial"/>
              </a:rPr>
              <a:t>of</a:t>
            </a:r>
            <a:r>
              <a:rPr lang="vi-VN" sz="1400" dirty="0">
                <a:latin typeface="Arial"/>
                <a:ea typeface="+mn-lt"/>
                <a:cs typeface="Arial"/>
              </a:rPr>
              <a:t> the </a:t>
            </a:r>
            <a:r>
              <a:rPr lang="vi-VN" sz="1400" dirty="0" err="1">
                <a:latin typeface="Arial"/>
                <a:ea typeface="+mn-lt"/>
                <a:cs typeface="Arial"/>
              </a:rPr>
              <a:t>squared</a:t>
            </a:r>
            <a:r>
              <a:rPr lang="vi-VN" sz="1400" dirty="0">
                <a:latin typeface="Arial"/>
                <a:ea typeface="+mn-lt"/>
                <a:cs typeface="Arial"/>
              </a:rPr>
              <a:t> </a:t>
            </a:r>
            <a:r>
              <a:rPr lang="vi-VN" sz="1400" dirty="0" err="1">
                <a:latin typeface="Arial"/>
                <a:ea typeface="+mn-lt"/>
                <a:cs typeface="Arial"/>
              </a:rPr>
              <a:t>error</a:t>
            </a:r>
            <a:r>
              <a:rPr lang="vi-VN" sz="1400" dirty="0">
                <a:latin typeface="Arial"/>
                <a:ea typeface="+mn-lt"/>
                <a:cs typeface="Arial"/>
              </a:rPr>
              <a:t> </a:t>
            </a:r>
            <a:r>
              <a:rPr lang="vi-VN" sz="1400" dirty="0" err="1">
                <a:latin typeface="Arial"/>
                <a:ea typeface="+mn-lt"/>
                <a:cs typeface="Arial"/>
              </a:rPr>
              <a:t>that</a:t>
            </a:r>
            <a:r>
              <a:rPr lang="vi-VN" sz="1400" dirty="0">
                <a:latin typeface="Arial"/>
                <a:ea typeface="+mn-lt"/>
                <a:cs typeface="Arial"/>
              </a:rPr>
              <a:t> </a:t>
            </a:r>
            <a:r>
              <a:rPr lang="vi-VN" sz="1400" dirty="0" err="1">
                <a:latin typeface="Arial"/>
                <a:ea typeface="+mn-lt"/>
                <a:cs typeface="Arial"/>
              </a:rPr>
              <a:t>is</a:t>
            </a:r>
            <a:r>
              <a:rPr lang="vi-VN" sz="1400" dirty="0">
                <a:latin typeface="Arial"/>
                <a:ea typeface="+mn-lt"/>
                <a:cs typeface="Arial"/>
              </a:rPr>
              <a:t> </a:t>
            </a:r>
            <a:r>
              <a:rPr lang="vi-VN" sz="1400" dirty="0" err="1">
                <a:latin typeface="Arial"/>
                <a:ea typeface="+mn-lt"/>
                <a:cs typeface="Arial"/>
              </a:rPr>
              <a:t>sensitive</a:t>
            </a:r>
            <a:r>
              <a:rPr lang="vi-VN" sz="1400" dirty="0">
                <a:latin typeface="Arial"/>
                <a:ea typeface="+mn-lt"/>
                <a:cs typeface="Arial"/>
              </a:rPr>
              <a:t> to </a:t>
            </a:r>
            <a:r>
              <a:rPr lang="vi-VN" sz="1400" dirty="0" err="1">
                <a:latin typeface="Arial"/>
                <a:ea typeface="+mn-lt"/>
                <a:cs typeface="Arial"/>
              </a:rPr>
              <a:t>large</a:t>
            </a:r>
            <a:r>
              <a:rPr lang="vi-VN" sz="1400" dirty="0">
                <a:latin typeface="Arial"/>
                <a:ea typeface="+mn-lt"/>
                <a:cs typeface="Arial"/>
              </a:rPr>
              <a:t> </a:t>
            </a:r>
            <a:r>
              <a:rPr lang="vi-VN" sz="1400" dirty="0" err="1">
                <a:latin typeface="Arial"/>
                <a:ea typeface="+mn-lt"/>
                <a:cs typeface="Arial"/>
              </a:rPr>
              <a:t>deviations</a:t>
            </a:r>
            <a:r>
              <a:rPr lang="vi-VN" sz="1400" dirty="0">
                <a:latin typeface="Arial"/>
                <a:ea typeface="+mn-lt"/>
                <a:cs typeface="Arial"/>
              </a:rPr>
              <a:t>.</a:t>
            </a:r>
            <a:endParaRPr lang="vi-VN" sz="1400"/>
          </a:p>
          <a:p>
            <a:pPr marL="0" indent="0">
              <a:buNone/>
            </a:pPr>
            <a:r>
              <a:rPr lang="vi-VN" sz="1400" b="1" dirty="0">
                <a:latin typeface="Arial"/>
                <a:ea typeface="+mn-lt"/>
                <a:cs typeface="Arial"/>
              </a:rPr>
              <a:t>-</a:t>
            </a:r>
            <a:r>
              <a:rPr lang="vi-VN" sz="1400" b="1" dirty="0" err="1">
                <a:latin typeface="Arial"/>
                <a:ea typeface="+mn-lt"/>
                <a:cs typeface="Arial"/>
              </a:rPr>
              <a:t>Root</a:t>
            </a:r>
            <a:r>
              <a:rPr lang="vi-VN" sz="1400" b="1" dirty="0">
                <a:latin typeface="Arial"/>
                <a:ea typeface="+mn-lt"/>
                <a:cs typeface="Arial"/>
              </a:rPr>
              <a:t> </a:t>
            </a:r>
            <a:r>
              <a:rPr lang="vi-VN" sz="1400" b="1" dirty="0" err="1">
                <a:latin typeface="Arial"/>
                <a:ea typeface="+mn-lt"/>
                <a:cs typeface="Arial"/>
              </a:rPr>
              <a:t>Mean</a:t>
            </a:r>
            <a:r>
              <a:rPr lang="vi-VN" sz="1400" b="1" dirty="0">
                <a:latin typeface="Arial"/>
                <a:ea typeface="+mn-lt"/>
                <a:cs typeface="Arial"/>
              </a:rPr>
              <a:t> </a:t>
            </a:r>
            <a:r>
              <a:rPr lang="vi-VN" sz="1400" b="1" dirty="0" err="1">
                <a:latin typeface="Arial"/>
                <a:ea typeface="+mn-lt"/>
                <a:cs typeface="Arial"/>
              </a:rPr>
              <a:t>Squared</a:t>
            </a:r>
            <a:r>
              <a:rPr lang="vi-VN" sz="1400" b="1" dirty="0">
                <a:latin typeface="Arial"/>
                <a:ea typeface="+mn-lt"/>
                <a:cs typeface="Arial"/>
              </a:rPr>
              <a:t> </a:t>
            </a:r>
            <a:r>
              <a:rPr lang="vi-VN" sz="1400" b="1" dirty="0" err="1">
                <a:latin typeface="Arial"/>
                <a:ea typeface="+mn-lt"/>
                <a:cs typeface="Arial"/>
              </a:rPr>
              <a:t>Error</a:t>
            </a:r>
            <a:r>
              <a:rPr lang="vi-VN" sz="1400" b="1" dirty="0">
                <a:latin typeface="Arial"/>
                <a:ea typeface="+mn-lt"/>
                <a:cs typeface="Arial"/>
              </a:rPr>
              <a:t> (RMSE)</a:t>
            </a:r>
            <a:r>
              <a:rPr lang="vi-VN" sz="1400" dirty="0">
                <a:latin typeface="Arial"/>
                <a:ea typeface="+mn-lt"/>
                <a:cs typeface="Arial"/>
              </a:rPr>
              <a:t>: 170,489.96, </a:t>
            </a:r>
            <a:r>
              <a:rPr lang="vi-VN" sz="1400" dirty="0" err="1">
                <a:latin typeface="Arial"/>
                <a:ea typeface="+mn-lt"/>
                <a:cs typeface="Arial"/>
              </a:rPr>
              <a:t>providing</a:t>
            </a:r>
            <a:r>
              <a:rPr lang="vi-VN" sz="1400" dirty="0">
                <a:latin typeface="Arial"/>
                <a:ea typeface="+mn-lt"/>
                <a:cs typeface="Arial"/>
              </a:rPr>
              <a:t> a </a:t>
            </a:r>
            <a:r>
              <a:rPr lang="vi-VN" sz="1400" dirty="0" err="1">
                <a:latin typeface="Arial"/>
                <a:ea typeface="+mn-lt"/>
                <a:cs typeface="Arial"/>
              </a:rPr>
              <a:t>more</a:t>
            </a:r>
            <a:r>
              <a:rPr lang="vi-VN" sz="1400" dirty="0">
                <a:latin typeface="Arial"/>
                <a:ea typeface="+mn-lt"/>
                <a:cs typeface="Arial"/>
              </a:rPr>
              <a:t> </a:t>
            </a:r>
            <a:r>
              <a:rPr lang="vi-VN" sz="1400" dirty="0" err="1">
                <a:latin typeface="Arial"/>
                <a:ea typeface="+mn-lt"/>
                <a:cs typeface="Arial"/>
              </a:rPr>
              <a:t>interpretable</a:t>
            </a:r>
            <a:r>
              <a:rPr lang="vi-VN" sz="1400" dirty="0">
                <a:latin typeface="Arial"/>
                <a:ea typeface="+mn-lt"/>
                <a:cs typeface="Arial"/>
              </a:rPr>
              <a:t> </a:t>
            </a:r>
            <a:r>
              <a:rPr lang="vi-VN" sz="1400" dirty="0" err="1">
                <a:latin typeface="Arial"/>
                <a:ea typeface="+mn-lt"/>
                <a:cs typeface="Arial"/>
              </a:rPr>
              <a:t>measure</a:t>
            </a:r>
            <a:r>
              <a:rPr lang="vi-VN" sz="1400" dirty="0">
                <a:latin typeface="Arial"/>
                <a:ea typeface="+mn-lt"/>
                <a:cs typeface="Arial"/>
              </a:rPr>
              <a:t> </a:t>
            </a:r>
            <a:r>
              <a:rPr lang="vi-VN" sz="1400" dirty="0" err="1">
                <a:latin typeface="Arial"/>
                <a:ea typeface="+mn-lt"/>
                <a:cs typeface="Arial"/>
              </a:rPr>
              <a:t>of</a:t>
            </a:r>
            <a:r>
              <a:rPr lang="vi-VN" sz="1400" dirty="0">
                <a:latin typeface="Arial"/>
                <a:ea typeface="+mn-lt"/>
                <a:cs typeface="Arial"/>
              </a:rPr>
              <a:t> the </a:t>
            </a:r>
            <a:r>
              <a:rPr lang="vi-VN" sz="1400" dirty="0" err="1">
                <a:latin typeface="Arial"/>
                <a:ea typeface="+mn-lt"/>
                <a:cs typeface="Arial"/>
              </a:rPr>
              <a:t>average</a:t>
            </a:r>
            <a:r>
              <a:rPr lang="vi-VN" sz="1400" dirty="0">
                <a:latin typeface="Arial"/>
                <a:ea typeface="+mn-lt"/>
                <a:cs typeface="Arial"/>
              </a:rPr>
              <a:t> </a:t>
            </a:r>
            <a:r>
              <a:rPr lang="vi-VN" sz="1400" dirty="0" err="1">
                <a:latin typeface="Arial"/>
                <a:ea typeface="+mn-lt"/>
                <a:cs typeface="Arial"/>
              </a:rPr>
              <a:t>error</a:t>
            </a:r>
            <a:r>
              <a:rPr lang="vi-VN" sz="1400" dirty="0">
                <a:latin typeface="Arial"/>
                <a:ea typeface="+mn-lt"/>
                <a:cs typeface="Arial"/>
              </a:rPr>
              <a:t> (</a:t>
            </a:r>
            <a:r>
              <a:rPr lang="vi-VN" sz="1400" dirty="0" err="1">
                <a:latin typeface="Arial"/>
                <a:ea typeface="+mn-lt"/>
                <a:cs typeface="Arial"/>
              </a:rPr>
              <a:t>around</a:t>
            </a:r>
            <a:r>
              <a:rPr lang="vi-VN" sz="1400" dirty="0">
                <a:latin typeface="Arial"/>
                <a:ea typeface="+mn-lt"/>
                <a:cs typeface="Arial"/>
              </a:rPr>
              <a:t> 170,489 USD).</a:t>
            </a:r>
            <a:endParaRPr lang="vi-VN" sz="1400"/>
          </a:p>
          <a:p>
            <a:pPr marL="0" indent="0">
              <a:buNone/>
            </a:pPr>
            <a:r>
              <a:rPr lang="vi-VN" sz="1400" b="1" dirty="0">
                <a:latin typeface="Arial"/>
                <a:ea typeface="+mn-lt"/>
                <a:cs typeface="Arial"/>
              </a:rPr>
              <a:t>-</a:t>
            </a:r>
            <a:r>
              <a:rPr lang="vi-VN" sz="1400" b="1" err="1">
                <a:latin typeface="Arial"/>
                <a:ea typeface="+mn-lt"/>
                <a:cs typeface="Arial"/>
              </a:rPr>
              <a:t>Variance</a:t>
            </a:r>
            <a:r>
              <a:rPr lang="vi-VN" sz="1400" b="1" dirty="0">
                <a:latin typeface="Arial"/>
                <a:ea typeface="+mn-lt"/>
                <a:cs typeface="Arial"/>
              </a:rPr>
              <a:t> </a:t>
            </a:r>
            <a:r>
              <a:rPr lang="vi-VN" sz="1400" b="1" err="1">
                <a:latin typeface="Arial"/>
                <a:ea typeface="+mn-lt"/>
                <a:cs typeface="Arial"/>
              </a:rPr>
              <a:t>Regression</a:t>
            </a:r>
            <a:r>
              <a:rPr lang="vi-VN" sz="1400" b="1" dirty="0">
                <a:latin typeface="Arial"/>
                <a:ea typeface="+mn-lt"/>
                <a:cs typeface="Arial"/>
              </a:rPr>
              <a:t> </a:t>
            </a:r>
            <a:r>
              <a:rPr lang="vi-VN" sz="1400" b="1" err="1">
                <a:latin typeface="Arial"/>
                <a:ea typeface="+mn-lt"/>
                <a:cs typeface="Arial"/>
              </a:rPr>
              <a:t>Score</a:t>
            </a:r>
            <a:r>
              <a:rPr lang="vi-VN" sz="1400" b="1" dirty="0">
                <a:latin typeface="Arial"/>
                <a:ea typeface="+mn-lt"/>
                <a:cs typeface="Arial"/>
              </a:rPr>
              <a:t> (R² </a:t>
            </a:r>
            <a:r>
              <a:rPr lang="vi-VN" sz="1400" b="1" err="1">
                <a:latin typeface="Arial"/>
                <a:ea typeface="+mn-lt"/>
                <a:cs typeface="Arial"/>
              </a:rPr>
              <a:t>Score</a:t>
            </a:r>
            <a:r>
              <a:rPr lang="vi-VN" sz="1400" b="1" dirty="0">
                <a:latin typeface="Arial"/>
                <a:ea typeface="+mn-lt"/>
                <a:cs typeface="Arial"/>
              </a:rPr>
              <a:t>)</a:t>
            </a:r>
            <a:r>
              <a:rPr lang="vi-VN" sz="1400" dirty="0">
                <a:latin typeface="Arial"/>
                <a:ea typeface="+mn-lt"/>
                <a:cs typeface="Arial"/>
              </a:rPr>
              <a:t>: 0.7929,</a:t>
            </a:r>
          </a:p>
          <a:p>
            <a:pPr marL="0" indent="0">
              <a:buNone/>
            </a:pPr>
            <a:r>
              <a:rPr lang="vi-VN" sz="1400" dirty="0">
                <a:latin typeface="Arial"/>
                <a:ea typeface="+mn-lt"/>
                <a:cs typeface="Arial"/>
              </a:rPr>
              <a:t> </a:t>
            </a:r>
            <a:r>
              <a:rPr lang="vi-VN" sz="1400" err="1">
                <a:latin typeface="Arial"/>
                <a:ea typeface="+mn-lt"/>
                <a:cs typeface="Arial"/>
              </a:rPr>
              <a:t>meaning</a:t>
            </a:r>
            <a:r>
              <a:rPr lang="vi-VN" sz="1400" dirty="0">
                <a:latin typeface="Arial"/>
                <a:ea typeface="+mn-lt"/>
                <a:cs typeface="Arial"/>
              </a:rPr>
              <a:t> the </a:t>
            </a:r>
            <a:r>
              <a:rPr lang="vi-VN" sz="1400" err="1">
                <a:latin typeface="Arial"/>
                <a:ea typeface="+mn-lt"/>
                <a:cs typeface="Arial"/>
              </a:rPr>
              <a:t>model</a:t>
            </a:r>
            <a:r>
              <a:rPr lang="vi-VN" sz="1400" dirty="0">
                <a:latin typeface="Arial"/>
                <a:ea typeface="+mn-lt"/>
                <a:cs typeface="Arial"/>
              </a:rPr>
              <a:t> </a:t>
            </a:r>
            <a:r>
              <a:rPr lang="vi-VN" sz="1400" err="1">
                <a:latin typeface="Arial"/>
                <a:ea typeface="+mn-lt"/>
                <a:cs typeface="Arial"/>
              </a:rPr>
              <a:t>explains</a:t>
            </a:r>
            <a:r>
              <a:rPr lang="vi-VN" sz="1400" dirty="0">
                <a:latin typeface="Arial"/>
                <a:ea typeface="+mn-lt"/>
                <a:cs typeface="Arial"/>
              </a:rPr>
              <a:t> 79.29% </a:t>
            </a:r>
            <a:r>
              <a:rPr lang="vi-VN" sz="1400" err="1">
                <a:latin typeface="Arial"/>
                <a:ea typeface="+mn-lt"/>
                <a:cs typeface="Arial"/>
              </a:rPr>
              <a:t>of</a:t>
            </a:r>
            <a:r>
              <a:rPr lang="vi-VN" sz="1400" dirty="0">
                <a:latin typeface="Arial"/>
                <a:ea typeface="+mn-lt"/>
                <a:cs typeface="Arial"/>
              </a:rPr>
              <a:t> the </a:t>
            </a:r>
            <a:r>
              <a:rPr lang="vi-VN" sz="1400" err="1">
                <a:latin typeface="Arial"/>
                <a:ea typeface="+mn-lt"/>
                <a:cs typeface="Arial"/>
              </a:rPr>
              <a:t>variance</a:t>
            </a:r>
            <a:r>
              <a:rPr lang="vi-VN" sz="1400" dirty="0">
                <a:latin typeface="Arial"/>
                <a:ea typeface="+mn-lt"/>
                <a:cs typeface="Arial"/>
              </a:rPr>
              <a:t> in </a:t>
            </a:r>
            <a:r>
              <a:rPr lang="vi-VN" sz="1400" err="1">
                <a:latin typeface="Arial"/>
                <a:ea typeface="+mn-lt"/>
                <a:cs typeface="Arial"/>
              </a:rPr>
              <a:t>house</a:t>
            </a:r>
            <a:r>
              <a:rPr lang="vi-VN" sz="1400" dirty="0">
                <a:latin typeface="Arial"/>
                <a:ea typeface="+mn-lt"/>
                <a:cs typeface="Arial"/>
              </a:rPr>
              <a:t> </a:t>
            </a:r>
            <a:r>
              <a:rPr lang="vi-VN" sz="1400" err="1">
                <a:latin typeface="Arial"/>
                <a:ea typeface="+mn-lt"/>
                <a:cs typeface="Arial"/>
              </a:rPr>
              <a:t>prices</a:t>
            </a:r>
            <a:r>
              <a:rPr lang="vi-VN" sz="1400" dirty="0">
                <a:latin typeface="Arial"/>
                <a:ea typeface="+mn-lt"/>
                <a:cs typeface="Arial"/>
              </a:rPr>
              <a:t> </a:t>
            </a:r>
            <a:r>
              <a:rPr lang="vi-VN" sz="1400" err="1">
                <a:latin typeface="Arial"/>
                <a:ea typeface="+mn-lt"/>
                <a:cs typeface="Arial"/>
              </a:rPr>
              <a:t>based</a:t>
            </a:r>
            <a:r>
              <a:rPr lang="vi-VN" sz="1400" dirty="0">
                <a:latin typeface="Arial"/>
                <a:ea typeface="+mn-lt"/>
                <a:cs typeface="Arial"/>
              </a:rPr>
              <a:t> </a:t>
            </a:r>
            <a:r>
              <a:rPr lang="vi-VN" sz="1400" err="1">
                <a:latin typeface="Arial"/>
                <a:ea typeface="+mn-lt"/>
                <a:cs typeface="Arial"/>
              </a:rPr>
              <a:t>on</a:t>
            </a:r>
            <a:r>
              <a:rPr lang="vi-VN" sz="1400" dirty="0">
                <a:latin typeface="Arial"/>
                <a:ea typeface="+mn-lt"/>
                <a:cs typeface="Arial"/>
              </a:rPr>
              <a:t> the </a:t>
            </a:r>
            <a:r>
              <a:rPr lang="vi-VN" sz="1400" err="1">
                <a:latin typeface="Arial"/>
                <a:ea typeface="+mn-lt"/>
                <a:cs typeface="Arial"/>
              </a:rPr>
              <a:t>input</a:t>
            </a:r>
            <a:r>
              <a:rPr lang="vi-VN" sz="1400" dirty="0">
                <a:latin typeface="Arial"/>
                <a:ea typeface="+mn-lt"/>
                <a:cs typeface="Arial"/>
              </a:rPr>
              <a:t> </a:t>
            </a:r>
            <a:r>
              <a:rPr lang="vi-VN" sz="1400" err="1">
                <a:latin typeface="Arial"/>
                <a:ea typeface="+mn-lt"/>
                <a:cs typeface="Arial"/>
              </a:rPr>
              <a:t>features</a:t>
            </a:r>
            <a:endParaRPr lang="vi-VN" sz="1400" dirty="0" err="1">
              <a:latin typeface="Arial"/>
              <a:cs typeface="Arial"/>
            </a:endParaRPr>
          </a:p>
        </p:txBody>
      </p:sp>
    </p:spTree>
    <p:extLst>
      <p:ext uri="{BB962C8B-B14F-4D97-AF65-F5344CB8AC3E}">
        <p14:creationId xmlns:p14="http://schemas.microsoft.com/office/powerpoint/2010/main" val="1002900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AE8BA18-3C0A-26AF-F599-56BE51B3EF64}"/>
              </a:ext>
            </a:extLst>
          </p:cNvPr>
          <p:cNvSpPr>
            <a:spLocks noGrp="1"/>
          </p:cNvSpPr>
          <p:nvPr>
            <p:ph type="title"/>
          </p:nvPr>
        </p:nvSpPr>
        <p:spPr>
          <a:xfrm>
            <a:off x="-2331" y="-141798"/>
            <a:ext cx="9956747" cy="1438780"/>
          </a:xfrm>
        </p:spPr>
        <p:txBody>
          <a:bodyPr/>
          <a:lstStyle/>
          <a:p>
            <a:r>
              <a:rPr lang="vi-VN" sz="4000" b="0" err="1">
                <a:highlight>
                  <a:srgbClr val="000000"/>
                </a:highlight>
              </a:rPr>
              <a:t>Comparing</a:t>
            </a:r>
            <a:r>
              <a:rPr lang="vi-VN" sz="4000" b="0" dirty="0"/>
              <a:t> the </a:t>
            </a:r>
            <a:r>
              <a:rPr lang="vi-VN" sz="4000" b="0" err="1"/>
              <a:t>model</a:t>
            </a:r>
            <a:r>
              <a:rPr lang="vi-VN" sz="4000" b="0" dirty="0"/>
              <a:t> </a:t>
            </a:r>
            <a:r>
              <a:rPr lang="vi-VN" sz="4000" b="0" err="1"/>
              <a:t>predictions</a:t>
            </a:r>
            <a:r>
              <a:rPr lang="vi-VN" sz="4000" b="0" dirty="0"/>
              <a:t> </a:t>
            </a:r>
            <a:r>
              <a:rPr lang="vi-VN" sz="4000" b="0" err="1"/>
              <a:t>with</a:t>
            </a:r>
            <a:r>
              <a:rPr lang="vi-VN" sz="4000" b="0" dirty="0"/>
              <a:t> a </a:t>
            </a:r>
            <a:r>
              <a:rPr lang="vi-VN" sz="4000" b="0" err="1"/>
              <a:t>perfect</a:t>
            </a:r>
            <a:r>
              <a:rPr lang="vi-VN" sz="4000" b="0" dirty="0"/>
              <a:t> </a:t>
            </a:r>
            <a:r>
              <a:rPr lang="vi-VN" sz="4000" b="0" err="1"/>
              <a:t>fit</a:t>
            </a:r>
            <a:r>
              <a:rPr lang="vi-VN" sz="4000" b="0" dirty="0"/>
              <a:t>.</a:t>
            </a:r>
            <a:endParaRPr lang="vi-VN" sz="4000" dirty="0" err="1"/>
          </a:p>
        </p:txBody>
      </p:sp>
      <p:sp>
        <p:nvSpPr>
          <p:cNvPr id="3" name="Chỗ dành sẵn cho Nội dung 2">
            <a:extLst>
              <a:ext uri="{FF2B5EF4-FFF2-40B4-BE49-F238E27FC236}">
                <a16:creationId xmlns:a16="http://schemas.microsoft.com/office/drawing/2014/main" id="{61507DFD-77E1-56E9-4EC7-57EE0EAF9A38}"/>
              </a:ext>
            </a:extLst>
          </p:cNvPr>
          <p:cNvSpPr>
            <a:spLocks noGrp="1"/>
          </p:cNvSpPr>
          <p:nvPr>
            <p:ph idx="1"/>
          </p:nvPr>
        </p:nvSpPr>
        <p:spPr>
          <a:xfrm>
            <a:off x="-4844" y="1492995"/>
            <a:ext cx="9956747" cy="3870181"/>
          </a:xfrm>
        </p:spPr>
        <p:txBody>
          <a:bodyPr vert="horz" lIns="91440" tIns="45720" rIns="91440" bIns="45720" rtlCol="0" anchor="t">
            <a:normAutofit/>
          </a:bodyPr>
          <a:lstStyle/>
          <a:p>
            <a:pPr marL="0" indent="0">
              <a:buNone/>
            </a:pPr>
            <a:r>
              <a:rPr lang="vi-VN" dirty="0">
                <a:ea typeface="+mn-lt"/>
                <a:cs typeface="+mn-lt"/>
              </a:rPr>
              <a:t>-</a:t>
            </a:r>
            <a:r>
              <a:rPr lang="vi-VN" err="1">
                <a:ea typeface="+mn-lt"/>
                <a:cs typeface="+mn-lt"/>
              </a:rPr>
              <a:t>We</a:t>
            </a:r>
            <a:r>
              <a:rPr lang="vi-VN" dirty="0">
                <a:ea typeface="+mn-lt"/>
                <a:cs typeface="+mn-lt"/>
              </a:rPr>
              <a:t> can </a:t>
            </a:r>
            <a:r>
              <a:rPr lang="vi-VN" err="1">
                <a:ea typeface="+mn-lt"/>
                <a:cs typeface="+mn-lt"/>
              </a:rPr>
              <a:t>compare</a:t>
            </a:r>
            <a:r>
              <a:rPr lang="vi-VN" dirty="0">
                <a:ea typeface="+mn-lt"/>
                <a:cs typeface="+mn-lt"/>
              </a:rPr>
              <a:t> the </a:t>
            </a:r>
            <a:r>
              <a:rPr lang="vi-VN" err="1">
                <a:ea typeface="+mn-lt"/>
                <a:cs typeface="+mn-lt"/>
              </a:rPr>
              <a:t>model</a:t>
            </a:r>
            <a:r>
              <a:rPr lang="vi-VN" dirty="0">
                <a:ea typeface="+mn-lt"/>
                <a:cs typeface="+mn-lt"/>
              </a:rPr>
              <a:t> </a:t>
            </a:r>
            <a:r>
              <a:rPr lang="vi-VN" err="1">
                <a:ea typeface="+mn-lt"/>
                <a:cs typeface="+mn-lt"/>
              </a:rPr>
              <a:t>predictions</a:t>
            </a:r>
            <a:r>
              <a:rPr lang="vi-VN" dirty="0">
                <a:ea typeface="+mn-lt"/>
                <a:cs typeface="+mn-lt"/>
              </a:rPr>
              <a:t> </a:t>
            </a:r>
            <a:r>
              <a:rPr lang="vi-VN" err="1">
                <a:ea typeface="+mn-lt"/>
                <a:cs typeface="+mn-lt"/>
              </a:rPr>
              <a:t>with</a:t>
            </a:r>
            <a:r>
              <a:rPr lang="vi-VN" dirty="0">
                <a:ea typeface="+mn-lt"/>
                <a:cs typeface="+mn-lt"/>
              </a:rPr>
              <a:t> a </a:t>
            </a:r>
            <a:r>
              <a:rPr lang="vi-VN" err="1">
                <a:ea typeface="+mn-lt"/>
                <a:cs typeface="+mn-lt"/>
              </a:rPr>
              <a:t>perfect</a:t>
            </a:r>
            <a:r>
              <a:rPr lang="vi-VN" dirty="0">
                <a:ea typeface="+mn-lt"/>
                <a:cs typeface="+mn-lt"/>
              </a:rPr>
              <a:t> </a:t>
            </a:r>
            <a:r>
              <a:rPr lang="vi-VN" err="1">
                <a:ea typeface="+mn-lt"/>
                <a:cs typeface="+mn-lt"/>
              </a:rPr>
              <a:t>fit</a:t>
            </a:r>
            <a:r>
              <a:rPr lang="vi-VN" dirty="0">
                <a:ea typeface="+mn-lt"/>
                <a:cs typeface="+mn-lt"/>
              </a:rPr>
              <a:t> to </a:t>
            </a:r>
            <a:r>
              <a:rPr lang="vi-VN" err="1">
                <a:ea typeface="+mn-lt"/>
                <a:cs typeface="+mn-lt"/>
              </a:rPr>
              <a:t>see</a:t>
            </a:r>
            <a:r>
              <a:rPr lang="vi-VN" dirty="0">
                <a:ea typeface="+mn-lt"/>
                <a:cs typeface="+mn-lt"/>
              </a:rPr>
              <a:t> </a:t>
            </a:r>
            <a:r>
              <a:rPr lang="vi-VN" err="1">
                <a:ea typeface="+mn-lt"/>
                <a:cs typeface="+mn-lt"/>
              </a:rPr>
              <a:t>how</a:t>
            </a:r>
            <a:r>
              <a:rPr lang="vi-VN" dirty="0">
                <a:ea typeface="+mn-lt"/>
                <a:cs typeface="+mn-lt"/>
              </a:rPr>
              <a:t> </a:t>
            </a:r>
            <a:r>
              <a:rPr lang="vi-VN" err="1">
                <a:ea typeface="+mn-lt"/>
                <a:cs typeface="+mn-lt"/>
              </a:rPr>
              <a:t>accurate</a:t>
            </a:r>
            <a:r>
              <a:rPr lang="vi-VN" dirty="0">
                <a:ea typeface="+mn-lt"/>
                <a:cs typeface="+mn-lt"/>
              </a:rPr>
              <a:t> the </a:t>
            </a:r>
            <a:r>
              <a:rPr lang="vi-VN" err="1">
                <a:ea typeface="+mn-lt"/>
                <a:cs typeface="+mn-lt"/>
              </a:rPr>
              <a:t>model</a:t>
            </a:r>
            <a:r>
              <a:rPr lang="vi-VN" dirty="0">
                <a:ea typeface="+mn-lt"/>
                <a:cs typeface="+mn-lt"/>
              </a:rPr>
              <a:t> </a:t>
            </a:r>
            <a:r>
              <a:rPr lang="vi-VN" err="1">
                <a:ea typeface="+mn-lt"/>
                <a:cs typeface="+mn-lt"/>
              </a:rPr>
              <a:t>is</a:t>
            </a:r>
            <a:r>
              <a:rPr lang="vi-VN" dirty="0">
                <a:ea typeface="+mn-lt"/>
                <a:cs typeface="+mn-lt"/>
              </a:rPr>
              <a:t>.</a:t>
            </a:r>
          </a:p>
          <a:p>
            <a:pPr marL="0" indent="0">
              <a:buNone/>
            </a:pPr>
            <a:r>
              <a:rPr lang="vi-VN" dirty="0">
                <a:ea typeface="+mn-lt"/>
                <a:cs typeface="+mn-lt"/>
              </a:rPr>
              <a:t>-The </a:t>
            </a:r>
            <a:r>
              <a:rPr lang="vi-VN" dirty="0" err="1">
                <a:ea typeface="+mn-lt"/>
                <a:cs typeface="+mn-lt"/>
              </a:rPr>
              <a:t>red</a:t>
            </a:r>
            <a:r>
              <a:rPr lang="vi-VN" dirty="0">
                <a:ea typeface="+mn-lt"/>
                <a:cs typeface="+mn-lt"/>
              </a:rPr>
              <a:t> </a:t>
            </a:r>
            <a:r>
              <a:rPr lang="vi-VN" dirty="0" err="1">
                <a:ea typeface="+mn-lt"/>
                <a:cs typeface="+mn-lt"/>
              </a:rPr>
              <a:t>line</a:t>
            </a:r>
            <a:r>
              <a:rPr lang="vi-VN" dirty="0">
                <a:ea typeface="+mn-lt"/>
                <a:cs typeface="+mn-lt"/>
              </a:rPr>
              <a:t> </a:t>
            </a:r>
            <a:r>
              <a:rPr lang="vi-VN" dirty="0" err="1">
                <a:ea typeface="+mn-lt"/>
                <a:cs typeface="+mn-lt"/>
              </a:rPr>
              <a:t>represents</a:t>
            </a:r>
            <a:r>
              <a:rPr lang="vi-VN" dirty="0">
                <a:ea typeface="+mn-lt"/>
                <a:cs typeface="+mn-lt"/>
              </a:rPr>
              <a:t> the </a:t>
            </a:r>
            <a:r>
              <a:rPr lang="vi-VN" dirty="0" err="1">
                <a:ea typeface="+mn-lt"/>
                <a:cs typeface="+mn-lt"/>
              </a:rPr>
              <a:t>perfect</a:t>
            </a:r>
            <a:r>
              <a:rPr lang="vi-VN" dirty="0">
                <a:ea typeface="+mn-lt"/>
                <a:cs typeface="+mn-lt"/>
              </a:rPr>
              <a:t> </a:t>
            </a:r>
            <a:r>
              <a:rPr lang="vi-VN" dirty="0" err="1">
                <a:ea typeface="+mn-lt"/>
                <a:cs typeface="+mn-lt"/>
              </a:rPr>
              <a:t>prediction</a:t>
            </a:r>
            <a:r>
              <a:rPr lang="vi-VN" dirty="0">
                <a:ea typeface="+mn-lt"/>
                <a:cs typeface="+mn-lt"/>
              </a:rPr>
              <a:t>. </a:t>
            </a:r>
          </a:p>
          <a:p>
            <a:pPr marL="0" indent="0">
              <a:buNone/>
            </a:pPr>
            <a:r>
              <a:rPr lang="vi-VN" dirty="0">
                <a:ea typeface="+mn-lt"/>
                <a:cs typeface="+mn-lt"/>
              </a:rPr>
              <a:t>-</a:t>
            </a:r>
            <a:r>
              <a:rPr lang="vi-VN" err="1">
                <a:ea typeface="+mn-lt"/>
                <a:cs typeface="+mn-lt"/>
              </a:rPr>
              <a:t>This</a:t>
            </a:r>
            <a:r>
              <a:rPr lang="vi-VN" dirty="0">
                <a:ea typeface="+mn-lt"/>
                <a:cs typeface="+mn-lt"/>
              </a:rPr>
              <a:t> </a:t>
            </a:r>
            <a:r>
              <a:rPr lang="vi-VN" err="1">
                <a:ea typeface="+mn-lt"/>
                <a:cs typeface="+mn-lt"/>
              </a:rPr>
              <a:t>model</a:t>
            </a:r>
            <a:r>
              <a:rPr lang="vi-VN" dirty="0">
                <a:ea typeface="+mn-lt"/>
                <a:cs typeface="+mn-lt"/>
              </a:rPr>
              <a:t> </a:t>
            </a:r>
            <a:r>
              <a:rPr lang="vi-VN" err="1">
                <a:ea typeface="+mn-lt"/>
                <a:cs typeface="+mn-lt"/>
              </a:rPr>
              <a:t>is</a:t>
            </a:r>
            <a:r>
              <a:rPr lang="vi-VN" dirty="0">
                <a:ea typeface="+mn-lt"/>
                <a:cs typeface="+mn-lt"/>
              </a:rPr>
              <a:t> </a:t>
            </a:r>
            <a:r>
              <a:rPr lang="vi-VN" err="1">
                <a:ea typeface="+mn-lt"/>
                <a:cs typeface="+mn-lt"/>
              </a:rPr>
              <a:t>good</a:t>
            </a:r>
            <a:r>
              <a:rPr lang="vi-VN" dirty="0">
                <a:ea typeface="+mn-lt"/>
                <a:cs typeface="+mn-lt"/>
              </a:rPr>
              <a:t> </a:t>
            </a:r>
            <a:r>
              <a:rPr lang="vi-VN" err="1">
                <a:ea typeface="+mn-lt"/>
                <a:cs typeface="+mn-lt"/>
              </a:rPr>
              <a:t>predicting</a:t>
            </a:r>
            <a:r>
              <a:rPr lang="vi-VN" dirty="0">
                <a:ea typeface="+mn-lt"/>
                <a:cs typeface="+mn-lt"/>
              </a:rPr>
              <a:t> the </a:t>
            </a:r>
            <a:r>
              <a:rPr lang="vi-VN" err="1">
                <a:ea typeface="+mn-lt"/>
                <a:cs typeface="+mn-lt"/>
              </a:rPr>
              <a:t>price</a:t>
            </a:r>
            <a:r>
              <a:rPr lang="vi-VN" dirty="0">
                <a:ea typeface="+mn-lt"/>
                <a:cs typeface="+mn-lt"/>
              </a:rPr>
              <a:t> </a:t>
            </a:r>
            <a:r>
              <a:rPr lang="vi-VN" err="1">
                <a:ea typeface="+mn-lt"/>
                <a:cs typeface="+mn-lt"/>
              </a:rPr>
              <a:t>of</a:t>
            </a:r>
            <a:r>
              <a:rPr lang="vi-VN" dirty="0">
                <a:ea typeface="+mn-lt"/>
                <a:cs typeface="+mn-lt"/>
              </a:rPr>
              <a:t> </a:t>
            </a:r>
            <a:r>
              <a:rPr lang="vi-VN" err="1">
                <a:ea typeface="+mn-lt"/>
                <a:cs typeface="+mn-lt"/>
              </a:rPr>
              <a:t>houses</a:t>
            </a:r>
            <a:r>
              <a:rPr lang="vi-VN" dirty="0">
                <a:ea typeface="+mn-lt"/>
                <a:cs typeface="+mn-lt"/>
              </a:rPr>
              <a:t> </a:t>
            </a:r>
            <a:r>
              <a:rPr lang="vi-VN" err="1">
                <a:ea typeface="+mn-lt"/>
                <a:cs typeface="+mn-lt"/>
              </a:rPr>
              <a:t>between</a:t>
            </a:r>
            <a:r>
              <a:rPr lang="vi-VN" dirty="0">
                <a:ea typeface="+mn-lt"/>
                <a:cs typeface="+mn-lt"/>
              </a:rPr>
              <a:t> 0 </a:t>
            </a:r>
            <a:r>
              <a:rPr lang="vi-VN" err="1">
                <a:ea typeface="+mn-lt"/>
                <a:cs typeface="+mn-lt"/>
              </a:rPr>
              <a:t>and</a:t>
            </a:r>
            <a:r>
              <a:rPr lang="vi-VN" dirty="0">
                <a:ea typeface="+mn-lt"/>
                <a:cs typeface="+mn-lt"/>
              </a:rPr>
              <a:t> 2,000,000. </a:t>
            </a:r>
            <a:r>
              <a:rPr lang="vi-VN" err="1">
                <a:ea typeface="+mn-lt"/>
                <a:cs typeface="+mn-lt"/>
              </a:rPr>
              <a:t>There</a:t>
            </a:r>
            <a:r>
              <a:rPr lang="vi-VN" dirty="0">
                <a:ea typeface="+mn-lt"/>
                <a:cs typeface="+mn-lt"/>
              </a:rPr>
              <a:t> </a:t>
            </a:r>
            <a:r>
              <a:rPr lang="vi-VN" err="1">
                <a:ea typeface="+mn-lt"/>
                <a:cs typeface="+mn-lt"/>
              </a:rPr>
              <a:t>is</a:t>
            </a:r>
            <a:r>
              <a:rPr lang="vi-VN" dirty="0">
                <a:ea typeface="+mn-lt"/>
                <a:cs typeface="+mn-lt"/>
              </a:rPr>
              <a:t> </a:t>
            </a:r>
            <a:r>
              <a:rPr lang="vi-VN" err="1">
                <a:ea typeface="+mn-lt"/>
                <a:cs typeface="+mn-lt"/>
              </a:rPr>
              <a:t>clearly</a:t>
            </a:r>
            <a:r>
              <a:rPr lang="vi-VN" dirty="0">
                <a:ea typeface="+mn-lt"/>
                <a:cs typeface="+mn-lt"/>
              </a:rPr>
              <a:t> a </a:t>
            </a:r>
            <a:r>
              <a:rPr lang="vi-VN" err="1">
                <a:ea typeface="+mn-lt"/>
                <a:cs typeface="+mn-lt"/>
              </a:rPr>
              <a:t>good</a:t>
            </a:r>
            <a:r>
              <a:rPr lang="vi-VN" dirty="0">
                <a:ea typeface="+mn-lt"/>
                <a:cs typeface="+mn-lt"/>
              </a:rPr>
              <a:t> </a:t>
            </a:r>
            <a:r>
              <a:rPr lang="vi-VN" err="1">
                <a:ea typeface="+mn-lt"/>
                <a:cs typeface="+mn-lt"/>
              </a:rPr>
              <a:t>fit</a:t>
            </a:r>
            <a:r>
              <a:rPr lang="vi-VN" dirty="0">
                <a:ea typeface="+mn-lt"/>
                <a:cs typeface="+mn-lt"/>
              </a:rPr>
              <a:t>. </a:t>
            </a:r>
          </a:p>
          <a:p>
            <a:pPr marL="0" indent="0">
              <a:buNone/>
            </a:pPr>
            <a:endParaRPr lang="vi-VN" dirty="0"/>
          </a:p>
        </p:txBody>
      </p:sp>
      <p:sp>
        <p:nvSpPr>
          <p:cNvPr id="4" name="Chỗ dành sẵn cho Ngày tháng 3">
            <a:extLst>
              <a:ext uri="{FF2B5EF4-FFF2-40B4-BE49-F238E27FC236}">
                <a16:creationId xmlns:a16="http://schemas.microsoft.com/office/drawing/2014/main" id="{55A00EDA-9224-F736-E5E6-C1AC7E4AD734}"/>
              </a:ext>
            </a:extLst>
          </p:cNvPr>
          <p:cNvSpPr>
            <a:spLocks noGrp="1"/>
          </p:cNvSpPr>
          <p:nvPr>
            <p:ph type="dt" sz="half" idx="10"/>
          </p:nvPr>
        </p:nvSpPr>
        <p:spPr/>
        <p:txBody>
          <a:bodyPr/>
          <a:lstStyle/>
          <a:p>
            <a:fld id="{1BFBA6B4-AF6A-4001-8076-9CD880EE1F4F}" type="datetime1">
              <a:t>30/03/2025</a:t>
            </a:fld>
            <a:endParaRPr lang="en-US" dirty="0"/>
          </a:p>
        </p:txBody>
      </p:sp>
      <p:sp>
        <p:nvSpPr>
          <p:cNvPr id="5" name="Chỗ dành sẵn cho Chân trang 4">
            <a:extLst>
              <a:ext uri="{FF2B5EF4-FFF2-40B4-BE49-F238E27FC236}">
                <a16:creationId xmlns:a16="http://schemas.microsoft.com/office/drawing/2014/main" id="{4C288B70-FD75-417D-8EFC-5645A3888D77}"/>
              </a:ext>
            </a:extLst>
          </p:cNvPr>
          <p:cNvSpPr>
            <a:spLocks noGrp="1"/>
          </p:cNvSpPr>
          <p:nvPr>
            <p:ph type="ftr" sz="quarter" idx="11"/>
          </p:nvPr>
        </p:nvSpPr>
        <p:spPr/>
        <p:txBody>
          <a:bodyPr/>
          <a:lstStyle/>
          <a:p>
            <a:r>
              <a:rPr lang="en-US" dirty="0"/>
              <a:t>
              </a:t>
            </a:r>
          </a:p>
        </p:txBody>
      </p:sp>
      <p:sp>
        <p:nvSpPr>
          <p:cNvPr id="6" name="Chỗ dành sẵn cho Số hiệu Bản chiếu 5">
            <a:extLst>
              <a:ext uri="{FF2B5EF4-FFF2-40B4-BE49-F238E27FC236}">
                <a16:creationId xmlns:a16="http://schemas.microsoft.com/office/drawing/2014/main" id="{BF901017-7956-A8FC-C592-A40F73775468}"/>
              </a:ext>
            </a:extLst>
          </p:cNvPr>
          <p:cNvSpPr>
            <a:spLocks noGrp="1"/>
          </p:cNvSpPr>
          <p:nvPr>
            <p:ph type="sldNum" sz="quarter" idx="12"/>
          </p:nvPr>
        </p:nvSpPr>
        <p:spPr/>
        <p:txBody>
          <a:bodyPr/>
          <a:lstStyle/>
          <a:p>
            <a:fld id="{6E91CC32-6A6B-4E2E-BBA1-6864F305DA26}" type="slidenum">
              <a:rPr lang="en-US" dirty="0"/>
              <a:t>7</a:t>
            </a:fld>
            <a:endParaRPr lang="en-US" dirty="0"/>
          </a:p>
        </p:txBody>
      </p:sp>
      <p:pic>
        <p:nvPicPr>
          <p:cNvPr id="7" name="Hình ảnh 6" descr="Ảnh có chứa văn bản, biểu đồ, Sơ đồ, hàng&#10;&#10;Nội dung do AI tạo có thể không chính xác.">
            <a:extLst>
              <a:ext uri="{FF2B5EF4-FFF2-40B4-BE49-F238E27FC236}">
                <a16:creationId xmlns:a16="http://schemas.microsoft.com/office/drawing/2014/main" id="{A9CC4D15-8CC7-4EDF-618C-29D72C274E8B}"/>
              </a:ext>
            </a:extLst>
          </p:cNvPr>
          <p:cNvPicPr>
            <a:picLocks noChangeAspect="1"/>
          </p:cNvPicPr>
          <p:nvPr/>
        </p:nvPicPr>
        <p:blipFill>
          <a:blip r:embed="rId2"/>
          <a:stretch>
            <a:fillRect/>
          </a:stretch>
        </p:blipFill>
        <p:spPr>
          <a:xfrm>
            <a:off x="155359" y="3259319"/>
            <a:ext cx="8751903" cy="3357770"/>
          </a:xfrm>
          <a:prstGeom prst="rect">
            <a:avLst/>
          </a:prstGeom>
        </p:spPr>
      </p:pic>
    </p:spTree>
    <p:extLst>
      <p:ext uri="{BB962C8B-B14F-4D97-AF65-F5344CB8AC3E}">
        <p14:creationId xmlns:p14="http://schemas.microsoft.com/office/powerpoint/2010/main" val="167250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ACC8615-9E3C-FF9E-06C0-9BC42EE8F841}"/>
              </a:ext>
            </a:extLst>
          </p:cNvPr>
          <p:cNvSpPr>
            <a:spLocks noGrp="1"/>
          </p:cNvSpPr>
          <p:nvPr>
            <p:ph type="title"/>
          </p:nvPr>
        </p:nvSpPr>
        <p:spPr>
          <a:xfrm>
            <a:off x="-2057" y="-687"/>
            <a:ext cx="9956747" cy="1438780"/>
          </a:xfrm>
        </p:spPr>
        <p:txBody>
          <a:bodyPr/>
          <a:lstStyle/>
          <a:p>
            <a:r>
              <a:rPr lang="vi-VN" b="1" dirty="0" err="1">
                <a:latin typeface="Times New Roman"/>
                <a:ea typeface="+mj-lt"/>
                <a:cs typeface="Times New Roman"/>
              </a:rPr>
              <a:t>Flask</a:t>
            </a:r>
            <a:r>
              <a:rPr lang="vi-VN" b="1" dirty="0">
                <a:latin typeface="Times New Roman"/>
                <a:ea typeface="+mj-lt"/>
                <a:cs typeface="Times New Roman"/>
              </a:rPr>
              <a:t> </a:t>
            </a:r>
            <a:r>
              <a:rPr lang="vi-VN" b="1" dirty="0" err="1">
                <a:latin typeface="Times New Roman"/>
                <a:ea typeface="+mj-lt"/>
                <a:cs typeface="Times New Roman"/>
              </a:rPr>
              <a:t>Web</a:t>
            </a:r>
            <a:r>
              <a:rPr lang="vi-VN" b="1" dirty="0">
                <a:latin typeface="Times New Roman"/>
                <a:ea typeface="+mj-lt"/>
                <a:cs typeface="Times New Roman"/>
              </a:rPr>
              <a:t> </a:t>
            </a:r>
            <a:r>
              <a:rPr lang="vi-VN" b="1" dirty="0" err="1">
                <a:latin typeface="Times New Roman"/>
                <a:ea typeface="+mj-lt"/>
                <a:cs typeface="Times New Roman"/>
              </a:rPr>
              <a:t>Application</a:t>
            </a:r>
            <a:endParaRPr lang="vi-VN" dirty="0" err="1">
              <a:latin typeface="Times New Roman"/>
              <a:cs typeface="Times New Roman"/>
            </a:endParaRPr>
          </a:p>
          <a:p>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3248E3AD-7CC4-2879-5FF5-26F3FEC26B31}"/>
              </a:ext>
            </a:extLst>
          </p:cNvPr>
          <p:cNvSpPr>
            <a:spLocks noGrp="1"/>
          </p:cNvSpPr>
          <p:nvPr>
            <p:ph idx="1"/>
          </p:nvPr>
        </p:nvSpPr>
        <p:spPr>
          <a:xfrm>
            <a:off x="0" y="853088"/>
            <a:ext cx="10515600" cy="5148615"/>
          </a:xfrm>
        </p:spPr>
        <p:txBody>
          <a:bodyPr vert="horz" lIns="91440" tIns="45720" rIns="91440" bIns="45720" rtlCol="0" anchor="t">
            <a:normAutofit/>
          </a:bodyPr>
          <a:lstStyle/>
          <a:p>
            <a:pPr marL="0" indent="0">
              <a:buNone/>
            </a:pPr>
            <a:r>
              <a:rPr lang="vi-VN" dirty="0">
                <a:latin typeface="Arial"/>
                <a:ea typeface="+mn-lt"/>
                <a:cs typeface="Arial"/>
              </a:rPr>
              <a:t>-</a:t>
            </a:r>
            <a:r>
              <a:rPr lang="vi-VN" dirty="0" err="1">
                <a:latin typeface="Arial"/>
                <a:ea typeface="+mn-lt"/>
                <a:cs typeface="Arial"/>
              </a:rPr>
              <a:t>Built</a:t>
            </a:r>
            <a:r>
              <a:rPr lang="vi-VN" dirty="0">
                <a:latin typeface="Arial"/>
                <a:ea typeface="+mn-lt"/>
                <a:cs typeface="Arial"/>
              </a:rPr>
              <a:t> a </a:t>
            </a:r>
            <a:r>
              <a:rPr lang="vi-VN" dirty="0" err="1">
                <a:latin typeface="Arial"/>
                <a:ea typeface="+mn-lt"/>
                <a:cs typeface="Arial"/>
              </a:rPr>
              <a:t>user-friendly</a:t>
            </a:r>
            <a:r>
              <a:rPr lang="vi-VN" dirty="0">
                <a:latin typeface="Arial"/>
                <a:ea typeface="+mn-lt"/>
                <a:cs typeface="Arial"/>
              </a:rPr>
              <a:t> </a:t>
            </a:r>
            <a:r>
              <a:rPr lang="vi-VN" dirty="0" err="1">
                <a:latin typeface="Arial"/>
                <a:ea typeface="+mn-lt"/>
                <a:cs typeface="Arial"/>
              </a:rPr>
              <a:t>web</a:t>
            </a:r>
            <a:r>
              <a:rPr lang="vi-VN" dirty="0">
                <a:latin typeface="Arial"/>
                <a:ea typeface="+mn-lt"/>
                <a:cs typeface="Arial"/>
              </a:rPr>
              <a:t> </a:t>
            </a:r>
            <a:r>
              <a:rPr lang="vi-VN" dirty="0" err="1">
                <a:latin typeface="Arial"/>
                <a:ea typeface="+mn-lt"/>
                <a:cs typeface="Arial"/>
              </a:rPr>
              <a:t>interface</a:t>
            </a:r>
            <a:r>
              <a:rPr lang="vi-VN" dirty="0">
                <a:latin typeface="Arial"/>
                <a:ea typeface="+mn-lt"/>
                <a:cs typeface="Arial"/>
              </a:rPr>
              <a:t> </a:t>
            </a:r>
            <a:r>
              <a:rPr lang="vi-VN" dirty="0" err="1">
                <a:latin typeface="Arial"/>
                <a:ea typeface="+mn-lt"/>
                <a:cs typeface="Arial"/>
              </a:rPr>
              <a:t>using</a:t>
            </a:r>
            <a:r>
              <a:rPr lang="vi-VN" dirty="0">
                <a:latin typeface="Arial"/>
                <a:ea typeface="+mn-lt"/>
                <a:cs typeface="Arial"/>
              </a:rPr>
              <a:t> </a:t>
            </a:r>
            <a:r>
              <a:rPr lang="vi-VN" dirty="0" err="1">
                <a:latin typeface="Arial"/>
                <a:ea typeface="+mn-lt"/>
                <a:cs typeface="Arial"/>
              </a:rPr>
              <a:t>Flask</a:t>
            </a:r>
            <a:r>
              <a:rPr lang="vi-VN" dirty="0">
                <a:latin typeface="Arial"/>
                <a:ea typeface="+mn-lt"/>
                <a:cs typeface="Arial"/>
              </a:rPr>
              <a:t>.</a:t>
            </a:r>
            <a:endParaRPr lang="vi-VN" dirty="0">
              <a:latin typeface="Arial"/>
              <a:cs typeface="Arial"/>
            </a:endParaRPr>
          </a:p>
          <a:p>
            <a:pPr marL="0" indent="0">
              <a:buNone/>
            </a:pPr>
            <a:r>
              <a:rPr lang="vi-VN" dirty="0">
                <a:latin typeface="Arial"/>
                <a:ea typeface="+mn-lt"/>
                <a:cs typeface="Arial"/>
              </a:rPr>
              <a:t>-</a:t>
            </a:r>
            <a:r>
              <a:rPr lang="vi-VN" dirty="0" err="1">
                <a:latin typeface="Arial"/>
                <a:ea typeface="+mn-lt"/>
                <a:cs typeface="Arial"/>
              </a:rPr>
              <a:t>Users</a:t>
            </a:r>
            <a:r>
              <a:rPr lang="vi-VN" dirty="0">
                <a:latin typeface="Arial"/>
                <a:ea typeface="+mn-lt"/>
                <a:cs typeface="Arial"/>
              </a:rPr>
              <a:t> </a:t>
            </a:r>
            <a:r>
              <a:rPr lang="vi-VN" dirty="0" err="1">
                <a:latin typeface="Arial"/>
                <a:ea typeface="+mn-lt"/>
                <a:cs typeface="Arial"/>
              </a:rPr>
              <a:t>input</a:t>
            </a:r>
            <a:r>
              <a:rPr lang="vi-VN" dirty="0">
                <a:latin typeface="Arial"/>
                <a:ea typeface="+mn-lt"/>
                <a:cs typeface="Arial"/>
              </a:rPr>
              <a:t> </a:t>
            </a:r>
            <a:r>
              <a:rPr lang="vi-VN" dirty="0" err="1">
                <a:latin typeface="Arial"/>
                <a:ea typeface="+mn-lt"/>
                <a:cs typeface="Arial"/>
              </a:rPr>
              <a:t>house</a:t>
            </a:r>
            <a:r>
              <a:rPr lang="vi-VN" dirty="0">
                <a:latin typeface="Arial"/>
                <a:ea typeface="+mn-lt"/>
                <a:cs typeface="Arial"/>
              </a:rPr>
              <a:t> </a:t>
            </a:r>
            <a:r>
              <a:rPr lang="vi-VN" dirty="0" err="1">
                <a:latin typeface="Arial"/>
                <a:ea typeface="+mn-lt"/>
                <a:cs typeface="Arial"/>
              </a:rPr>
              <a:t>details</a:t>
            </a:r>
            <a:r>
              <a:rPr lang="vi-VN" dirty="0">
                <a:latin typeface="Arial"/>
                <a:ea typeface="+mn-lt"/>
                <a:cs typeface="Arial"/>
              </a:rPr>
              <a:t>, </a:t>
            </a:r>
            <a:r>
              <a:rPr lang="vi-VN" dirty="0" err="1">
                <a:latin typeface="Arial"/>
                <a:ea typeface="+mn-lt"/>
                <a:cs typeface="Arial"/>
              </a:rPr>
              <a:t>and</a:t>
            </a:r>
            <a:r>
              <a:rPr lang="vi-VN" dirty="0">
                <a:latin typeface="Arial"/>
                <a:ea typeface="+mn-lt"/>
                <a:cs typeface="Arial"/>
              </a:rPr>
              <a:t> the </a:t>
            </a:r>
            <a:r>
              <a:rPr lang="vi-VN" dirty="0" err="1">
                <a:latin typeface="Arial"/>
                <a:ea typeface="+mn-lt"/>
                <a:cs typeface="Arial"/>
              </a:rPr>
              <a:t>model</a:t>
            </a:r>
            <a:r>
              <a:rPr lang="vi-VN" dirty="0">
                <a:latin typeface="Arial"/>
                <a:ea typeface="+mn-lt"/>
                <a:cs typeface="Arial"/>
              </a:rPr>
              <a:t> </a:t>
            </a:r>
            <a:r>
              <a:rPr lang="vi-VN" dirty="0" err="1">
                <a:latin typeface="Arial"/>
                <a:ea typeface="+mn-lt"/>
                <a:cs typeface="Arial"/>
              </a:rPr>
              <a:t>predicts</a:t>
            </a:r>
            <a:r>
              <a:rPr lang="vi-VN" dirty="0">
                <a:latin typeface="Arial"/>
                <a:ea typeface="+mn-lt"/>
                <a:cs typeface="Arial"/>
              </a:rPr>
              <a:t> the </a:t>
            </a:r>
            <a:r>
              <a:rPr lang="vi-VN" dirty="0" err="1">
                <a:latin typeface="Arial"/>
                <a:ea typeface="+mn-lt"/>
                <a:cs typeface="Arial"/>
              </a:rPr>
              <a:t>price</a:t>
            </a:r>
            <a:r>
              <a:rPr lang="vi-VN" dirty="0">
                <a:latin typeface="Arial"/>
                <a:ea typeface="+mn-lt"/>
                <a:cs typeface="Arial"/>
              </a:rPr>
              <a:t>.</a:t>
            </a:r>
            <a:endParaRPr lang="vi-VN" dirty="0">
              <a:latin typeface="Arial"/>
              <a:cs typeface="Arial"/>
            </a:endParaRPr>
          </a:p>
          <a:p>
            <a:pPr marL="0" indent="0">
              <a:buNone/>
            </a:pPr>
            <a:r>
              <a:rPr lang="vi-VN" dirty="0">
                <a:latin typeface="Arial"/>
                <a:ea typeface="+mn-lt"/>
                <a:cs typeface="Arial"/>
              </a:rPr>
              <a:t>-</a:t>
            </a:r>
            <a:r>
              <a:rPr lang="vi-VN" dirty="0" err="1">
                <a:latin typeface="Arial"/>
                <a:ea typeface="+mn-lt"/>
                <a:cs typeface="Arial"/>
              </a:rPr>
              <a:t>Implemented</a:t>
            </a:r>
            <a:r>
              <a:rPr lang="vi-VN" dirty="0">
                <a:latin typeface="Arial"/>
                <a:ea typeface="+mn-lt"/>
                <a:cs typeface="Arial"/>
              </a:rPr>
              <a:t> API </a:t>
            </a:r>
            <a:r>
              <a:rPr lang="vi-VN" dirty="0" err="1">
                <a:latin typeface="Arial"/>
                <a:ea typeface="+mn-lt"/>
                <a:cs typeface="Arial"/>
              </a:rPr>
              <a:t>endpoints</a:t>
            </a:r>
            <a:r>
              <a:rPr lang="vi-VN" dirty="0">
                <a:latin typeface="Arial"/>
                <a:ea typeface="+mn-lt"/>
                <a:cs typeface="Arial"/>
              </a:rPr>
              <a:t> to </a:t>
            </a:r>
            <a:r>
              <a:rPr lang="vi-VN" dirty="0" err="1">
                <a:latin typeface="Arial"/>
                <a:ea typeface="+mn-lt"/>
                <a:cs typeface="Arial"/>
              </a:rPr>
              <a:t>communicate</a:t>
            </a:r>
            <a:r>
              <a:rPr lang="vi-VN" dirty="0">
                <a:latin typeface="Arial"/>
                <a:ea typeface="+mn-lt"/>
                <a:cs typeface="Arial"/>
              </a:rPr>
              <a:t> </a:t>
            </a:r>
            <a:r>
              <a:rPr lang="vi-VN" dirty="0" err="1">
                <a:latin typeface="Arial"/>
                <a:ea typeface="+mn-lt"/>
                <a:cs typeface="Arial"/>
              </a:rPr>
              <a:t>with</a:t>
            </a:r>
            <a:r>
              <a:rPr lang="vi-VN" dirty="0">
                <a:latin typeface="Arial"/>
                <a:ea typeface="+mn-lt"/>
                <a:cs typeface="Arial"/>
              </a:rPr>
              <a:t> the </a:t>
            </a:r>
            <a:r>
              <a:rPr lang="vi-VN" dirty="0" err="1">
                <a:latin typeface="Arial"/>
                <a:ea typeface="+mn-lt"/>
                <a:cs typeface="Arial"/>
              </a:rPr>
              <a:t>trained</a:t>
            </a:r>
            <a:r>
              <a:rPr lang="vi-VN" dirty="0">
                <a:latin typeface="Arial"/>
                <a:ea typeface="+mn-lt"/>
                <a:cs typeface="Arial"/>
              </a:rPr>
              <a:t> </a:t>
            </a:r>
            <a:r>
              <a:rPr lang="vi-VN" dirty="0" err="1">
                <a:latin typeface="Arial"/>
                <a:ea typeface="+mn-lt"/>
                <a:cs typeface="Arial"/>
              </a:rPr>
              <a:t>model</a:t>
            </a:r>
            <a:r>
              <a:rPr lang="vi-VN" dirty="0">
                <a:latin typeface="Arial"/>
                <a:ea typeface="+mn-lt"/>
                <a:cs typeface="Arial"/>
              </a:rPr>
              <a:t>.</a:t>
            </a:r>
            <a:endParaRPr lang="vi-VN" dirty="0">
              <a:latin typeface="Arial"/>
              <a:cs typeface="Arial"/>
            </a:endParaRPr>
          </a:p>
          <a:p>
            <a:endParaRPr lang="vi-VN" dirty="0">
              <a:latin typeface="Arial"/>
              <a:cs typeface="Arial"/>
            </a:endParaRPr>
          </a:p>
        </p:txBody>
      </p:sp>
      <p:pic>
        <p:nvPicPr>
          <p:cNvPr id="4" name="Hình ảnh 3" descr="Ảnh có chứa văn bản, ảnh chụp màn hình, Phông chữ, số&#10;&#10;Nội dung do AI tạo có thể không chính xác.">
            <a:extLst>
              <a:ext uri="{FF2B5EF4-FFF2-40B4-BE49-F238E27FC236}">
                <a16:creationId xmlns:a16="http://schemas.microsoft.com/office/drawing/2014/main" id="{6A17B1E1-B242-A45F-C87A-4A820BCBF6AF}"/>
              </a:ext>
            </a:extLst>
          </p:cNvPr>
          <p:cNvPicPr>
            <a:picLocks noChangeAspect="1"/>
          </p:cNvPicPr>
          <p:nvPr/>
        </p:nvPicPr>
        <p:blipFill>
          <a:blip r:embed="rId2"/>
          <a:stretch>
            <a:fillRect/>
          </a:stretch>
        </p:blipFill>
        <p:spPr>
          <a:xfrm>
            <a:off x="88821" y="2285154"/>
            <a:ext cx="5913560" cy="4325056"/>
          </a:xfrm>
          <a:prstGeom prst="rect">
            <a:avLst/>
          </a:prstGeom>
        </p:spPr>
      </p:pic>
    </p:spTree>
    <p:extLst>
      <p:ext uri="{BB962C8B-B14F-4D97-AF65-F5344CB8AC3E}">
        <p14:creationId xmlns:p14="http://schemas.microsoft.com/office/powerpoint/2010/main" val="2895785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F79C0D1-75C3-408F-0978-A4E18E6FA842}"/>
              </a:ext>
            </a:extLst>
          </p:cNvPr>
          <p:cNvSpPr>
            <a:spLocks noGrp="1"/>
          </p:cNvSpPr>
          <p:nvPr>
            <p:ph type="title"/>
          </p:nvPr>
        </p:nvSpPr>
        <p:spPr>
          <a:xfrm>
            <a:off x="-2057" y="-720354"/>
            <a:ext cx="9956747" cy="1438780"/>
          </a:xfrm>
        </p:spPr>
        <p:txBody>
          <a:bodyPr/>
          <a:lstStyle/>
          <a:p>
            <a:r>
              <a:rPr lang="vi-VN" dirty="0" err="1">
                <a:latin typeface="Times New Roman"/>
                <a:cs typeface="Times New Roman"/>
              </a:rPr>
              <a:t>Predict</a:t>
            </a:r>
            <a:r>
              <a:rPr lang="vi-VN" dirty="0">
                <a:latin typeface="Times New Roman"/>
                <a:cs typeface="Times New Roman"/>
              </a:rPr>
              <a:t> </a:t>
            </a:r>
            <a:r>
              <a:rPr lang="vi-VN" dirty="0" err="1">
                <a:latin typeface="Times New Roman"/>
                <a:cs typeface="Times New Roman"/>
              </a:rPr>
              <a:t>on</a:t>
            </a:r>
            <a:r>
              <a:rPr lang="vi-VN" dirty="0">
                <a:latin typeface="Times New Roman"/>
                <a:cs typeface="Times New Roman"/>
              </a:rPr>
              <a:t> a </a:t>
            </a:r>
            <a:r>
              <a:rPr lang="vi-VN" dirty="0" err="1">
                <a:latin typeface="Times New Roman"/>
                <a:cs typeface="Times New Roman"/>
              </a:rPr>
              <a:t>brand</a:t>
            </a:r>
            <a:r>
              <a:rPr lang="vi-VN" dirty="0">
                <a:latin typeface="Times New Roman"/>
                <a:cs typeface="Times New Roman"/>
              </a:rPr>
              <a:t> </a:t>
            </a:r>
            <a:r>
              <a:rPr lang="vi-VN" dirty="0" err="1">
                <a:latin typeface="Times New Roman"/>
                <a:cs typeface="Times New Roman"/>
              </a:rPr>
              <a:t>new</a:t>
            </a:r>
            <a:r>
              <a:rPr lang="vi-VN" dirty="0">
                <a:latin typeface="Times New Roman"/>
                <a:cs typeface="Times New Roman"/>
              </a:rPr>
              <a:t> </a:t>
            </a:r>
            <a:r>
              <a:rPr lang="vi-VN" dirty="0" err="1">
                <a:latin typeface="Times New Roman"/>
                <a:cs typeface="Times New Roman"/>
              </a:rPr>
              <a:t>house</a:t>
            </a:r>
            <a:endParaRPr lang="vi-VN" dirty="0" err="1"/>
          </a:p>
        </p:txBody>
      </p:sp>
      <p:sp>
        <p:nvSpPr>
          <p:cNvPr id="3" name="Chỗ dành sẵn cho Nội dung 2">
            <a:extLst>
              <a:ext uri="{FF2B5EF4-FFF2-40B4-BE49-F238E27FC236}">
                <a16:creationId xmlns:a16="http://schemas.microsoft.com/office/drawing/2014/main" id="{EEFF4F13-7D6D-7C6F-99E6-402D4644E233}"/>
              </a:ext>
            </a:extLst>
          </p:cNvPr>
          <p:cNvSpPr>
            <a:spLocks noGrp="1"/>
          </p:cNvSpPr>
          <p:nvPr>
            <p:ph idx="1"/>
          </p:nvPr>
        </p:nvSpPr>
        <p:spPr>
          <a:xfrm>
            <a:off x="81467" y="1354281"/>
            <a:ext cx="9956747" cy="3870181"/>
          </a:xfrm>
        </p:spPr>
        <p:txBody>
          <a:bodyPr vert="horz" lIns="91440" tIns="45720" rIns="91440" bIns="45720" rtlCol="0" anchor="t">
            <a:noAutofit/>
          </a:bodyPr>
          <a:lstStyle/>
          <a:p>
            <a:pPr>
              <a:buNone/>
            </a:pPr>
            <a:r>
              <a:rPr lang="vi-VN" sz="1400" dirty="0">
                <a:latin typeface="Arial"/>
                <a:ea typeface="+mn-lt"/>
                <a:cs typeface="Arial"/>
              </a:rPr>
              <a:t>-I </a:t>
            </a:r>
            <a:r>
              <a:rPr lang="vi-VN" sz="1400" dirty="0" err="1">
                <a:latin typeface="Arial"/>
                <a:ea typeface="+mn-lt"/>
                <a:cs typeface="Arial"/>
              </a:rPr>
              <a:t>used</a:t>
            </a:r>
            <a:r>
              <a:rPr lang="vi-VN" sz="1400" dirty="0">
                <a:latin typeface="Arial"/>
                <a:ea typeface="+mn-lt"/>
                <a:cs typeface="Arial"/>
              </a:rPr>
              <a:t> the </a:t>
            </a:r>
            <a:r>
              <a:rPr lang="vi-VN" sz="1400" dirty="0" err="1">
                <a:latin typeface="Arial"/>
                <a:ea typeface="+mn-lt"/>
                <a:cs typeface="Arial"/>
              </a:rPr>
              <a:t>model</a:t>
            </a:r>
            <a:r>
              <a:rPr lang="vi-VN" sz="1400" dirty="0">
                <a:latin typeface="Arial"/>
                <a:ea typeface="+mn-lt"/>
                <a:cs typeface="Arial"/>
              </a:rPr>
              <a:t> to </a:t>
            </a:r>
            <a:r>
              <a:rPr lang="vi-VN" sz="1400" dirty="0" err="1">
                <a:latin typeface="Arial"/>
                <a:ea typeface="+mn-lt"/>
                <a:cs typeface="Arial"/>
              </a:rPr>
              <a:t>predict</a:t>
            </a:r>
            <a:r>
              <a:rPr lang="vi-VN" sz="1400" dirty="0">
                <a:latin typeface="Arial"/>
                <a:ea typeface="+mn-lt"/>
                <a:cs typeface="Arial"/>
              </a:rPr>
              <a:t> the </a:t>
            </a:r>
            <a:r>
              <a:rPr lang="vi-VN" sz="1400" dirty="0" err="1">
                <a:latin typeface="Arial"/>
                <a:ea typeface="+mn-lt"/>
                <a:cs typeface="Arial"/>
              </a:rPr>
              <a:t>price</a:t>
            </a:r>
            <a:r>
              <a:rPr lang="vi-VN" sz="1400" dirty="0">
                <a:latin typeface="Arial"/>
                <a:ea typeface="+mn-lt"/>
                <a:cs typeface="Arial"/>
              </a:rPr>
              <a:t> </a:t>
            </a:r>
            <a:r>
              <a:rPr lang="vi-VN" sz="1400" dirty="0" err="1">
                <a:latin typeface="Arial"/>
                <a:ea typeface="+mn-lt"/>
                <a:cs typeface="Arial"/>
              </a:rPr>
              <a:t>of</a:t>
            </a:r>
            <a:r>
              <a:rPr lang="vi-VN" sz="1400" dirty="0">
                <a:latin typeface="Arial"/>
                <a:ea typeface="+mn-lt"/>
                <a:cs typeface="Arial"/>
              </a:rPr>
              <a:t> a </a:t>
            </a:r>
            <a:r>
              <a:rPr lang="vi-VN" sz="1400" dirty="0" err="1">
                <a:latin typeface="Arial"/>
                <a:ea typeface="+mn-lt"/>
                <a:cs typeface="Arial"/>
              </a:rPr>
              <a:t>new</a:t>
            </a:r>
            <a:r>
              <a:rPr lang="vi-VN" sz="1400" dirty="0">
                <a:latin typeface="Arial"/>
                <a:ea typeface="+mn-lt"/>
                <a:cs typeface="Arial"/>
              </a:rPr>
              <a:t> </a:t>
            </a:r>
            <a:r>
              <a:rPr lang="vi-VN" sz="1400" dirty="0" err="1">
                <a:latin typeface="Arial"/>
                <a:ea typeface="+mn-lt"/>
                <a:cs typeface="Arial"/>
              </a:rPr>
              <a:t>house</a:t>
            </a:r>
            <a:r>
              <a:rPr lang="vi-VN" sz="1400" dirty="0">
                <a:latin typeface="Arial"/>
                <a:ea typeface="+mn-lt"/>
                <a:cs typeface="Arial"/>
              </a:rPr>
              <a:t>, </a:t>
            </a:r>
            <a:r>
              <a:rPr lang="vi-VN" sz="1400" dirty="0" err="1">
                <a:latin typeface="Arial"/>
                <a:ea typeface="+mn-lt"/>
                <a:cs typeface="Arial"/>
              </a:rPr>
              <a:t>using</a:t>
            </a:r>
            <a:r>
              <a:rPr lang="vi-VN" sz="1400" dirty="0">
                <a:latin typeface="Arial"/>
                <a:ea typeface="+mn-lt"/>
                <a:cs typeface="Arial"/>
              </a:rPr>
              <a:t> the </a:t>
            </a:r>
            <a:r>
              <a:rPr lang="vi-VN" sz="1400" dirty="0" err="1">
                <a:latin typeface="Arial"/>
                <a:ea typeface="+mn-lt"/>
                <a:cs typeface="Arial"/>
              </a:rPr>
              <a:t>first</a:t>
            </a:r>
            <a:r>
              <a:rPr lang="vi-VN" sz="1400" dirty="0">
                <a:latin typeface="Arial"/>
                <a:ea typeface="+mn-lt"/>
                <a:cs typeface="Arial"/>
              </a:rPr>
              <a:t> </a:t>
            </a:r>
            <a:r>
              <a:rPr lang="vi-VN" sz="1400" dirty="0" err="1">
                <a:latin typeface="Arial"/>
                <a:ea typeface="+mn-lt"/>
                <a:cs typeface="Arial"/>
              </a:rPr>
              <a:t>row</a:t>
            </a:r>
            <a:r>
              <a:rPr lang="vi-VN" sz="1400" dirty="0">
                <a:latin typeface="Arial"/>
                <a:ea typeface="+mn-lt"/>
                <a:cs typeface="Arial"/>
              </a:rPr>
              <a:t> </a:t>
            </a:r>
            <a:r>
              <a:rPr lang="vi-VN" sz="1400" dirty="0" err="1">
                <a:latin typeface="Arial"/>
                <a:ea typeface="+mn-lt"/>
                <a:cs typeface="Arial"/>
              </a:rPr>
              <a:t>of</a:t>
            </a:r>
            <a:r>
              <a:rPr lang="vi-VN" sz="1400" dirty="0">
                <a:latin typeface="Arial"/>
                <a:ea typeface="+mn-lt"/>
                <a:cs typeface="Arial"/>
              </a:rPr>
              <a:t> the </a:t>
            </a:r>
            <a:r>
              <a:rPr lang="vi-VN" sz="1400" dirty="0" err="1">
                <a:latin typeface="Arial"/>
                <a:ea typeface="+mn-lt"/>
                <a:cs typeface="Arial"/>
              </a:rPr>
              <a:t>dataset</a:t>
            </a:r>
            <a:r>
              <a:rPr lang="vi-VN" sz="1400" dirty="0">
                <a:latin typeface="Arial"/>
                <a:ea typeface="+mn-lt"/>
                <a:cs typeface="Arial"/>
              </a:rPr>
              <a:t> </a:t>
            </a:r>
            <a:r>
              <a:rPr lang="vi-VN" sz="1400" dirty="0" err="1">
                <a:latin typeface="Arial"/>
                <a:ea typeface="+mn-lt"/>
                <a:cs typeface="Arial"/>
              </a:rPr>
              <a:t>as</a:t>
            </a:r>
            <a:r>
              <a:rPr lang="vi-VN" sz="1400" dirty="0">
                <a:latin typeface="Arial"/>
                <a:ea typeface="+mn-lt"/>
                <a:cs typeface="Arial"/>
              </a:rPr>
              <a:t> an </a:t>
            </a:r>
            <a:r>
              <a:rPr lang="vi-VN" sz="1400" dirty="0" err="1">
                <a:latin typeface="Arial"/>
                <a:ea typeface="+mn-lt"/>
                <a:cs typeface="Arial"/>
              </a:rPr>
              <a:t>example</a:t>
            </a:r>
            <a:endParaRPr lang="vi-VN" sz="1400" dirty="0" err="1"/>
          </a:p>
          <a:p>
            <a:pPr>
              <a:buNone/>
            </a:pPr>
            <a:r>
              <a:rPr lang="vi-VN" sz="1400" dirty="0">
                <a:ea typeface="+mn-lt"/>
                <a:cs typeface="+mn-lt"/>
              </a:rPr>
              <a:t>-The </a:t>
            </a:r>
            <a:r>
              <a:rPr lang="vi-VN" sz="1400" dirty="0" err="1">
                <a:ea typeface="+mn-lt"/>
                <a:cs typeface="+mn-lt"/>
              </a:rPr>
              <a:t>original</a:t>
            </a:r>
            <a:r>
              <a:rPr lang="vi-VN" sz="1400" dirty="0">
                <a:ea typeface="+mn-lt"/>
                <a:cs typeface="+mn-lt"/>
              </a:rPr>
              <a:t> </a:t>
            </a:r>
            <a:r>
              <a:rPr lang="vi-VN" sz="1400" dirty="0" err="1">
                <a:ea typeface="+mn-lt"/>
                <a:cs typeface="+mn-lt"/>
              </a:rPr>
              <a:t>price</a:t>
            </a:r>
            <a:r>
              <a:rPr lang="vi-VN" sz="1400" dirty="0">
                <a:ea typeface="+mn-lt"/>
                <a:cs typeface="+mn-lt"/>
              </a:rPr>
              <a:t> </a:t>
            </a:r>
            <a:r>
              <a:rPr lang="vi-VN" sz="1400" dirty="0" err="1">
                <a:ea typeface="+mn-lt"/>
                <a:cs typeface="+mn-lt"/>
              </a:rPr>
              <a:t>is</a:t>
            </a:r>
            <a:r>
              <a:rPr lang="vi-VN" sz="1400" dirty="0">
                <a:ea typeface="+mn-lt"/>
                <a:cs typeface="+mn-lt"/>
              </a:rPr>
              <a:t> $221,900 </a:t>
            </a:r>
            <a:r>
              <a:rPr lang="vi-VN" sz="1400" dirty="0" err="1">
                <a:ea typeface="+mn-lt"/>
                <a:cs typeface="+mn-lt"/>
              </a:rPr>
              <a:t>and</a:t>
            </a:r>
            <a:r>
              <a:rPr lang="vi-VN" sz="1400" dirty="0">
                <a:ea typeface="+mn-lt"/>
                <a:cs typeface="+mn-lt"/>
              </a:rPr>
              <a:t> the </a:t>
            </a:r>
            <a:r>
              <a:rPr lang="vi-VN" sz="1400" dirty="0" err="1">
                <a:ea typeface="+mn-lt"/>
                <a:cs typeface="+mn-lt"/>
              </a:rPr>
              <a:t>model</a:t>
            </a:r>
            <a:r>
              <a:rPr lang="vi-VN" sz="1400" dirty="0">
                <a:ea typeface="+mn-lt"/>
                <a:cs typeface="+mn-lt"/>
              </a:rPr>
              <a:t> </a:t>
            </a:r>
            <a:r>
              <a:rPr lang="vi-VN" sz="1400" dirty="0" err="1">
                <a:ea typeface="+mn-lt"/>
                <a:cs typeface="+mn-lt"/>
              </a:rPr>
              <a:t>prediction</a:t>
            </a:r>
            <a:r>
              <a:rPr lang="vi-VN" sz="1400" dirty="0">
                <a:ea typeface="+mn-lt"/>
                <a:cs typeface="+mn-lt"/>
              </a:rPr>
              <a:t> </a:t>
            </a:r>
            <a:r>
              <a:rPr lang="vi-VN" sz="1400" dirty="0" err="1">
                <a:ea typeface="+mn-lt"/>
                <a:cs typeface="+mn-lt"/>
              </a:rPr>
              <a:t>is</a:t>
            </a:r>
            <a:r>
              <a:rPr lang="vi-VN" sz="1400" dirty="0">
                <a:ea typeface="+mn-lt"/>
                <a:cs typeface="+mn-lt"/>
              </a:rPr>
              <a:t> $296512. </a:t>
            </a:r>
            <a:endParaRPr lang="vi-VN" sz="1400" dirty="0"/>
          </a:p>
          <a:p>
            <a:pPr>
              <a:buNone/>
            </a:pPr>
            <a:r>
              <a:rPr lang="vi-VN" sz="1400" dirty="0">
                <a:ea typeface="+mn-lt"/>
                <a:cs typeface="+mn-lt"/>
              </a:rPr>
              <a:t>-The </a:t>
            </a:r>
            <a:r>
              <a:rPr lang="vi-VN" sz="1400" err="1">
                <a:ea typeface="+mn-lt"/>
                <a:cs typeface="+mn-lt"/>
              </a:rPr>
              <a:t>model</a:t>
            </a:r>
            <a:r>
              <a:rPr lang="vi-VN" sz="1400" dirty="0">
                <a:ea typeface="+mn-lt"/>
                <a:cs typeface="+mn-lt"/>
              </a:rPr>
              <a:t> </a:t>
            </a:r>
            <a:r>
              <a:rPr lang="vi-VN" sz="1400" err="1">
                <a:ea typeface="+mn-lt"/>
                <a:cs typeface="+mn-lt"/>
              </a:rPr>
              <a:t>overestimated</a:t>
            </a:r>
            <a:r>
              <a:rPr lang="vi-VN" sz="1400" dirty="0">
                <a:ea typeface="+mn-lt"/>
                <a:cs typeface="+mn-lt"/>
              </a:rPr>
              <a:t> the </a:t>
            </a:r>
            <a:r>
              <a:rPr lang="vi-VN" sz="1400" err="1">
                <a:ea typeface="+mn-lt"/>
                <a:cs typeface="+mn-lt"/>
              </a:rPr>
              <a:t>price</a:t>
            </a:r>
            <a:r>
              <a:rPr lang="vi-VN" sz="1400" dirty="0">
                <a:ea typeface="+mn-lt"/>
                <a:cs typeface="+mn-lt"/>
              </a:rPr>
              <a:t> </a:t>
            </a:r>
            <a:r>
              <a:rPr lang="vi-VN" sz="1400" err="1">
                <a:ea typeface="+mn-lt"/>
                <a:cs typeface="+mn-lt"/>
              </a:rPr>
              <a:t>by</a:t>
            </a:r>
            <a:r>
              <a:rPr lang="vi-VN" sz="1400" dirty="0">
                <a:ea typeface="+mn-lt"/>
                <a:cs typeface="+mn-lt"/>
              </a:rPr>
              <a:t> </a:t>
            </a:r>
            <a:r>
              <a:rPr lang="vi-VN" sz="1400" err="1">
                <a:ea typeface="+mn-lt"/>
                <a:cs typeface="+mn-lt"/>
              </a:rPr>
              <a:t>approximately</a:t>
            </a:r>
            <a:r>
              <a:rPr lang="vi-VN" sz="1400" dirty="0">
                <a:ea typeface="+mn-lt"/>
                <a:cs typeface="+mn-lt"/>
              </a:rPr>
              <a:t> 74,612$. </a:t>
            </a:r>
            <a:r>
              <a:rPr lang="vi-VN" sz="1400" err="1">
                <a:ea typeface="+mn-lt"/>
                <a:cs typeface="+mn-lt"/>
              </a:rPr>
              <a:t>This</a:t>
            </a:r>
            <a:r>
              <a:rPr lang="vi-VN" sz="1400" dirty="0">
                <a:ea typeface="+mn-lt"/>
                <a:cs typeface="+mn-lt"/>
              </a:rPr>
              <a:t> </a:t>
            </a:r>
            <a:r>
              <a:rPr lang="vi-VN" sz="1400" err="1">
                <a:ea typeface="+mn-lt"/>
                <a:cs typeface="+mn-lt"/>
              </a:rPr>
              <a:t>discrepancy</a:t>
            </a:r>
            <a:r>
              <a:rPr lang="vi-VN" sz="1400" dirty="0">
                <a:ea typeface="+mn-lt"/>
                <a:cs typeface="+mn-lt"/>
              </a:rPr>
              <a:t> may be </a:t>
            </a:r>
            <a:r>
              <a:rPr lang="vi-VN" sz="1400" err="1">
                <a:ea typeface="+mn-lt"/>
                <a:cs typeface="+mn-lt"/>
              </a:rPr>
              <a:t>attributed</a:t>
            </a:r>
            <a:endParaRPr lang="vi-VN" sz="1400" dirty="0" err="1">
              <a:ea typeface="+mn-lt"/>
              <a:cs typeface="+mn-lt"/>
            </a:endParaRPr>
          </a:p>
          <a:p>
            <a:pPr>
              <a:buNone/>
            </a:pPr>
            <a:r>
              <a:rPr lang="vi-VN" sz="1400" dirty="0">
                <a:ea typeface="+mn-lt"/>
                <a:cs typeface="+mn-lt"/>
              </a:rPr>
              <a:t> to </a:t>
            </a:r>
            <a:r>
              <a:rPr lang="vi-VN" sz="1400" dirty="0" err="1">
                <a:ea typeface="+mn-lt"/>
                <a:cs typeface="+mn-lt"/>
              </a:rPr>
              <a:t>factors</a:t>
            </a:r>
            <a:r>
              <a:rPr lang="vi-VN" sz="1400" dirty="0">
                <a:ea typeface="+mn-lt"/>
                <a:cs typeface="+mn-lt"/>
              </a:rPr>
              <a:t> </a:t>
            </a:r>
            <a:r>
              <a:rPr lang="vi-VN" sz="1400" dirty="0" err="1">
                <a:ea typeface="+mn-lt"/>
                <a:cs typeface="+mn-lt"/>
              </a:rPr>
              <a:t>such</a:t>
            </a:r>
            <a:r>
              <a:rPr lang="vi-VN" sz="1400" dirty="0">
                <a:ea typeface="+mn-lt"/>
                <a:cs typeface="+mn-lt"/>
              </a:rPr>
              <a:t> </a:t>
            </a:r>
            <a:r>
              <a:rPr lang="vi-VN" sz="1400" dirty="0" err="1">
                <a:ea typeface="+mn-lt"/>
                <a:cs typeface="+mn-lt"/>
              </a:rPr>
              <a:t>as</a:t>
            </a:r>
            <a:r>
              <a:rPr lang="vi-VN" sz="1400" dirty="0">
                <a:ea typeface="+mn-lt"/>
                <a:cs typeface="+mn-lt"/>
              </a:rPr>
              <a:t> </a:t>
            </a:r>
            <a:r>
              <a:rPr lang="vi-VN" sz="1400" dirty="0" err="1">
                <a:ea typeface="+mn-lt"/>
                <a:cs typeface="+mn-lt"/>
              </a:rPr>
              <a:t>outliers</a:t>
            </a:r>
            <a:r>
              <a:rPr lang="vi-VN" sz="1400" dirty="0">
                <a:ea typeface="+mn-lt"/>
                <a:cs typeface="+mn-lt"/>
              </a:rPr>
              <a:t> in the </a:t>
            </a:r>
            <a:r>
              <a:rPr lang="vi-VN" sz="1400" dirty="0" err="1">
                <a:ea typeface="+mn-lt"/>
                <a:cs typeface="+mn-lt"/>
              </a:rPr>
              <a:t>dataset</a:t>
            </a:r>
            <a:r>
              <a:rPr lang="vi-VN" sz="1400" dirty="0">
                <a:ea typeface="+mn-lt"/>
                <a:cs typeface="+mn-lt"/>
              </a:rPr>
              <a:t> </a:t>
            </a:r>
            <a:r>
              <a:rPr lang="vi-VN" sz="1400" dirty="0" err="1">
                <a:ea typeface="+mn-lt"/>
                <a:cs typeface="+mn-lt"/>
              </a:rPr>
              <a:t>or</a:t>
            </a:r>
            <a:r>
              <a:rPr lang="vi-VN" sz="1400" dirty="0">
                <a:ea typeface="+mn-lt"/>
                <a:cs typeface="+mn-lt"/>
              </a:rPr>
              <a:t> the </a:t>
            </a:r>
            <a:r>
              <a:rPr lang="vi-VN" sz="1400" dirty="0" err="1">
                <a:ea typeface="+mn-lt"/>
                <a:cs typeface="+mn-lt"/>
              </a:rPr>
              <a:t>model’s</a:t>
            </a:r>
            <a:r>
              <a:rPr lang="vi-VN" sz="1400" dirty="0">
                <a:ea typeface="+mn-lt"/>
                <a:cs typeface="+mn-lt"/>
              </a:rPr>
              <a:t> </a:t>
            </a:r>
            <a:r>
              <a:rPr lang="vi-VN" sz="1400" dirty="0" err="1">
                <a:ea typeface="+mn-lt"/>
                <a:cs typeface="+mn-lt"/>
              </a:rPr>
              <a:t>limited</a:t>
            </a:r>
            <a:r>
              <a:rPr lang="vi-VN" sz="1400" dirty="0">
                <a:ea typeface="+mn-lt"/>
                <a:cs typeface="+mn-lt"/>
              </a:rPr>
              <a:t> </a:t>
            </a:r>
            <a:r>
              <a:rPr lang="vi-VN" sz="1400" dirty="0" err="1">
                <a:ea typeface="+mn-lt"/>
                <a:cs typeface="+mn-lt"/>
              </a:rPr>
              <a:t>ability</a:t>
            </a:r>
            <a:r>
              <a:rPr lang="vi-VN" sz="1400" dirty="0">
                <a:ea typeface="+mn-lt"/>
                <a:cs typeface="+mn-lt"/>
              </a:rPr>
              <a:t> to </a:t>
            </a:r>
            <a:r>
              <a:rPr lang="vi-VN" sz="1400" dirty="0" err="1">
                <a:ea typeface="+mn-lt"/>
                <a:cs typeface="+mn-lt"/>
              </a:rPr>
              <a:t>accurately</a:t>
            </a:r>
            <a:r>
              <a:rPr lang="vi-VN" sz="1400" dirty="0">
                <a:ea typeface="+mn-lt"/>
                <a:cs typeface="+mn-lt"/>
              </a:rPr>
              <a:t> </a:t>
            </a:r>
            <a:r>
              <a:rPr lang="vi-VN" sz="1400" dirty="0" err="1">
                <a:ea typeface="+mn-lt"/>
                <a:cs typeface="+mn-lt"/>
              </a:rPr>
              <a:t>predict</a:t>
            </a:r>
            <a:r>
              <a:rPr lang="vi-VN" sz="1400" dirty="0">
                <a:ea typeface="+mn-lt"/>
                <a:cs typeface="+mn-lt"/>
              </a:rPr>
              <a:t> </a:t>
            </a:r>
            <a:r>
              <a:rPr lang="vi-VN" sz="1400" dirty="0" err="1">
                <a:ea typeface="+mn-lt"/>
                <a:cs typeface="+mn-lt"/>
              </a:rPr>
              <a:t>prices</a:t>
            </a:r>
            <a:r>
              <a:rPr lang="vi-VN" sz="1400" dirty="0">
                <a:ea typeface="+mn-lt"/>
                <a:cs typeface="+mn-lt"/>
              </a:rPr>
              <a:t> </a:t>
            </a:r>
            <a:r>
              <a:rPr lang="vi-VN" sz="1400" dirty="0" err="1">
                <a:ea typeface="+mn-lt"/>
                <a:cs typeface="+mn-lt"/>
              </a:rPr>
              <a:t>for</a:t>
            </a:r>
            <a:r>
              <a:rPr lang="vi-VN" sz="1400" dirty="0">
                <a:ea typeface="+mn-lt"/>
                <a:cs typeface="+mn-lt"/>
              </a:rPr>
              <a:t> </a:t>
            </a:r>
            <a:endParaRPr lang="vi-VN" sz="1400">
              <a:ea typeface="+mn-lt"/>
              <a:cs typeface="+mn-lt"/>
            </a:endParaRPr>
          </a:p>
          <a:p>
            <a:pPr>
              <a:buNone/>
            </a:pPr>
            <a:r>
              <a:rPr lang="vi-VN" sz="1400" dirty="0" err="1">
                <a:ea typeface="+mn-lt"/>
                <a:cs typeface="+mn-lt"/>
              </a:rPr>
              <a:t>lower-value</a:t>
            </a:r>
            <a:r>
              <a:rPr lang="vi-VN" sz="1400" dirty="0">
                <a:ea typeface="+mn-lt"/>
                <a:cs typeface="+mn-lt"/>
              </a:rPr>
              <a:t> </a:t>
            </a:r>
            <a:r>
              <a:rPr lang="vi-VN" sz="1400" dirty="0" err="1">
                <a:ea typeface="+mn-lt"/>
                <a:cs typeface="+mn-lt"/>
              </a:rPr>
              <a:t>homes</a:t>
            </a:r>
            <a:r>
              <a:rPr lang="vi-VN" sz="1400" dirty="0">
                <a:ea typeface="+mn-lt"/>
                <a:cs typeface="+mn-lt"/>
              </a:rPr>
              <a:t>. </a:t>
            </a:r>
            <a:endParaRPr lang="vi-VN" sz="1400"/>
          </a:p>
          <a:p>
            <a:pPr>
              <a:buNone/>
            </a:pPr>
            <a:endParaRPr lang="vi-VN" sz="1400" dirty="0"/>
          </a:p>
          <a:p>
            <a:pPr>
              <a:buNone/>
            </a:pPr>
            <a:endParaRPr lang="vi-VN" sz="1400" dirty="0"/>
          </a:p>
          <a:p>
            <a:pPr>
              <a:buNone/>
            </a:pPr>
            <a:r>
              <a:rPr lang="vi-VN" sz="1400" dirty="0">
                <a:ea typeface="+mn-lt"/>
                <a:cs typeface="+mn-lt"/>
              </a:rPr>
              <a:t> </a:t>
            </a:r>
            <a:endParaRPr lang="vi-VN" sz="1400" dirty="0"/>
          </a:p>
          <a:p>
            <a:pPr>
              <a:buNone/>
            </a:pPr>
            <a:endParaRPr lang="vi-VN" sz="1400" dirty="0"/>
          </a:p>
          <a:p>
            <a:pPr>
              <a:buNone/>
            </a:pPr>
            <a:endParaRPr lang="vi-VN" sz="1400" dirty="0"/>
          </a:p>
          <a:p>
            <a:pPr>
              <a:buNone/>
            </a:pPr>
            <a:endParaRPr lang="vi-VN" sz="1400" dirty="0"/>
          </a:p>
          <a:p>
            <a:pPr marL="0" indent="0">
              <a:buNone/>
            </a:pPr>
            <a:endParaRPr lang="vi-VN" sz="1400" dirty="0"/>
          </a:p>
        </p:txBody>
      </p:sp>
      <p:pic>
        <p:nvPicPr>
          <p:cNvPr id="4" name="Hình ảnh 3" descr="Ảnh có chứa văn bản, ảnh chụp màn hình, thực đơn, Phông chữ&#10;&#10;Nội dung do AI tạo có thể không chính xác.">
            <a:extLst>
              <a:ext uri="{FF2B5EF4-FFF2-40B4-BE49-F238E27FC236}">
                <a16:creationId xmlns:a16="http://schemas.microsoft.com/office/drawing/2014/main" id="{E0F0DAD0-4EE9-B1D7-CC5E-F8125715DA98}"/>
              </a:ext>
            </a:extLst>
          </p:cNvPr>
          <p:cNvPicPr>
            <a:picLocks noChangeAspect="1"/>
          </p:cNvPicPr>
          <p:nvPr/>
        </p:nvPicPr>
        <p:blipFill>
          <a:blip r:embed="rId2"/>
          <a:stretch>
            <a:fillRect/>
          </a:stretch>
        </p:blipFill>
        <p:spPr>
          <a:xfrm>
            <a:off x="8842058" y="1355408"/>
            <a:ext cx="2966085" cy="5137785"/>
          </a:xfrm>
          <a:prstGeom prst="rect">
            <a:avLst/>
          </a:prstGeom>
        </p:spPr>
      </p:pic>
    </p:spTree>
    <p:extLst>
      <p:ext uri="{BB962C8B-B14F-4D97-AF65-F5344CB8AC3E}">
        <p14:creationId xmlns:p14="http://schemas.microsoft.com/office/powerpoint/2010/main" val="2551933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A01A0D-60B4-BBA4-A142-E8F263F893E2}"/>
              </a:ext>
            </a:extLst>
          </p:cNvPr>
          <p:cNvSpPr>
            <a:spLocks noGrp="1"/>
          </p:cNvSpPr>
          <p:nvPr>
            <p:ph type="title"/>
          </p:nvPr>
        </p:nvSpPr>
        <p:spPr/>
        <p:txBody>
          <a:bodyPr/>
          <a:lstStyle/>
          <a:p>
            <a:r>
              <a:rPr lang="vi-VN" dirty="0" err="1">
                <a:latin typeface="Times New Roman"/>
                <a:cs typeface="Times New Roman"/>
              </a:rPr>
              <a:t>Conclusion</a:t>
            </a:r>
            <a:endParaRPr lang="vi-VN" dirty="0" err="1"/>
          </a:p>
        </p:txBody>
      </p:sp>
      <p:sp>
        <p:nvSpPr>
          <p:cNvPr id="3" name="Chỗ dành sẵn cho Nội dung 2">
            <a:extLst>
              <a:ext uri="{FF2B5EF4-FFF2-40B4-BE49-F238E27FC236}">
                <a16:creationId xmlns:a16="http://schemas.microsoft.com/office/drawing/2014/main" id="{A0158C5F-CB08-A485-F7E9-438FEE195A80}"/>
              </a:ext>
            </a:extLst>
          </p:cNvPr>
          <p:cNvSpPr>
            <a:spLocks noGrp="1"/>
          </p:cNvSpPr>
          <p:nvPr>
            <p:ph idx="1"/>
          </p:nvPr>
        </p:nvSpPr>
        <p:spPr/>
        <p:txBody>
          <a:bodyPr vert="horz" lIns="91440" tIns="45720" rIns="91440" bIns="45720" rtlCol="0" anchor="t">
            <a:normAutofit/>
          </a:bodyPr>
          <a:lstStyle/>
          <a:p>
            <a:pPr marL="0" indent="0">
              <a:buNone/>
            </a:pPr>
            <a:r>
              <a:rPr lang="vi-VN" err="1">
                <a:latin typeface="Arial"/>
                <a:ea typeface="+mn-lt"/>
                <a:cs typeface="Arial"/>
              </a:rPr>
              <a:t>This</a:t>
            </a:r>
            <a:r>
              <a:rPr lang="vi-VN" dirty="0">
                <a:latin typeface="Arial"/>
                <a:ea typeface="+mn-lt"/>
                <a:cs typeface="Arial"/>
              </a:rPr>
              <a:t> </a:t>
            </a:r>
            <a:r>
              <a:rPr lang="vi-VN" err="1">
                <a:latin typeface="Arial"/>
                <a:ea typeface="+mn-lt"/>
                <a:cs typeface="Arial"/>
              </a:rPr>
              <a:t>project</a:t>
            </a:r>
            <a:r>
              <a:rPr lang="vi-VN" dirty="0">
                <a:latin typeface="Arial"/>
                <a:ea typeface="+mn-lt"/>
                <a:cs typeface="Arial"/>
              </a:rPr>
              <a:t> </a:t>
            </a:r>
            <a:r>
              <a:rPr lang="vi-VN" err="1">
                <a:latin typeface="Arial"/>
                <a:ea typeface="+mn-lt"/>
                <a:cs typeface="Arial"/>
              </a:rPr>
              <a:t>predicts</a:t>
            </a:r>
            <a:r>
              <a:rPr lang="vi-VN" dirty="0">
                <a:latin typeface="Arial"/>
                <a:ea typeface="+mn-lt"/>
                <a:cs typeface="Arial"/>
              </a:rPr>
              <a:t> </a:t>
            </a:r>
            <a:r>
              <a:rPr lang="vi-VN" err="1">
                <a:latin typeface="Arial"/>
                <a:ea typeface="+mn-lt"/>
                <a:cs typeface="Arial"/>
              </a:rPr>
              <a:t>house</a:t>
            </a:r>
            <a:r>
              <a:rPr lang="vi-VN" dirty="0">
                <a:latin typeface="Arial"/>
                <a:ea typeface="+mn-lt"/>
                <a:cs typeface="Arial"/>
              </a:rPr>
              <a:t> </a:t>
            </a:r>
            <a:r>
              <a:rPr lang="vi-VN" err="1">
                <a:latin typeface="Arial"/>
                <a:ea typeface="+mn-lt"/>
                <a:cs typeface="Arial"/>
              </a:rPr>
              <a:t>prices</a:t>
            </a:r>
            <a:r>
              <a:rPr lang="vi-VN" dirty="0">
                <a:latin typeface="Arial"/>
                <a:ea typeface="+mn-lt"/>
                <a:cs typeface="Arial"/>
              </a:rPr>
              <a:t> </a:t>
            </a:r>
            <a:r>
              <a:rPr lang="vi-VN" err="1">
                <a:latin typeface="Arial"/>
                <a:ea typeface="+mn-lt"/>
                <a:cs typeface="Arial"/>
              </a:rPr>
              <a:t>using</a:t>
            </a:r>
            <a:r>
              <a:rPr lang="vi-VN" dirty="0">
                <a:latin typeface="Arial"/>
                <a:ea typeface="+mn-lt"/>
                <a:cs typeface="Arial"/>
              </a:rPr>
              <a:t> a </a:t>
            </a:r>
            <a:r>
              <a:rPr lang="vi-VN" err="1">
                <a:latin typeface="Arial"/>
                <a:ea typeface="+mn-lt"/>
                <a:cs typeface="Arial"/>
              </a:rPr>
              <a:t>Keras-based</a:t>
            </a:r>
            <a:r>
              <a:rPr lang="vi-VN" dirty="0">
                <a:latin typeface="Arial"/>
                <a:ea typeface="+mn-lt"/>
                <a:cs typeface="Arial"/>
              </a:rPr>
              <a:t> ANN. </a:t>
            </a:r>
            <a:r>
              <a:rPr lang="vi-VN" err="1">
                <a:latin typeface="Arial"/>
                <a:ea typeface="+mn-lt"/>
                <a:cs typeface="Arial"/>
              </a:rPr>
              <a:t>While</a:t>
            </a:r>
            <a:r>
              <a:rPr lang="vi-VN" dirty="0">
                <a:latin typeface="Arial"/>
                <a:ea typeface="+mn-lt"/>
                <a:cs typeface="Arial"/>
              </a:rPr>
              <a:t> </a:t>
            </a:r>
            <a:r>
              <a:rPr lang="vi-VN" err="1">
                <a:latin typeface="Arial"/>
                <a:ea typeface="+mn-lt"/>
                <a:cs typeface="Arial"/>
              </a:rPr>
              <a:t>achieving</a:t>
            </a:r>
            <a:r>
              <a:rPr lang="vi-VN" dirty="0">
                <a:latin typeface="Arial"/>
                <a:ea typeface="+mn-lt"/>
                <a:cs typeface="Arial"/>
              </a:rPr>
              <a:t> a 0.799 </a:t>
            </a:r>
            <a:r>
              <a:rPr lang="vi-VN" err="1">
                <a:latin typeface="Arial"/>
                <a:ea typeface="+mn-lt"/>
                <a:cs typeface="Arial"/>
              </a:rPr>
              <a:t>variance</a:t>
            </a:r>
            <a:r>
              <a:rPr lang="vi-VN" dirty="0">
                <a:latin typeface="Arial"/>
                <a:ea typeface="+mn-lt"/>
                <a:cs typeface="Arial"/>
              </a:rPr>
              <a:t> </a:t>
            </a:r>
            <a:r>
              <a:rPr lang="vi-VN" err="1">
                <a:latin typeface="Arial"/>
                <a:ea typeface="+mn-lt"/>
                <a:cs typeface="Arial"/>
              </a:rPr>
              <a:t>score</a:t>
            </a:r>
            <a:r>
              <a:rPr lang="vi-VN" dirty="0">
                <a:latin typeface="Arial"/>
                <a:ea typeface="+mn-lt"/>
                <a:cs typeface="Arial"/>
              </a:rPr>
              <a:t>, the MAE </a:t>
            </a:r>
            <a:r>
              <a:rPr lang="vi-VN" err="1">
                <a:latin typeface="Arial"/>
                <a:ea typeface="+mn-lt"/>
                <a:cs typeface="Arial"/>
              </a:rPr>
              <a:t>of</a:t>
            </a:r>
            <a:r>
              <a:rPr lang="vi-VN" dirty="0">
                <a:latin typeface="Arial"/>
                <a:ea typeface="+mn-lt"/>
                <a:cs typeface="Arial"/>
              </a:rPr>
              <a:t> 105,289.63 </a:t>
            </a:r>
            <a:r>
              <a:rPr lang="vi-VN" err="1">
                <a:latin typeface="Arial"/>
                <a:ea typeface="+mn-lt"/>
                <a:cs typeface="Arial"/>
              </a:rPr>
              <a:t>shows</a:t>
            </a:r>
            <a:r>
              <a:rPr lang="vi-VN" dirty="0">
                <a:latin typeface="Arial"/>
                <a:ea typeface="+mn-lt"/>
                <a:cs typeface="Arial"/>
              </a:rPr>
              <a:t> </a:t>
            </a:r>
            <a:r>
              <a:rPr lang="vi-VN" err="1">
                <a:latin typeface="Arial"/>
                <a:ea typeface="+mn-lt"/>
                <a:cs typeface="Arial"/>
              </a:rPr>
              <a:t>room</a:t>
            </a:r>
            <a:r>
              <a:rPr lang="vi-VN" dirty="0">
                <a:latin typeface="Arial"/>
                <a:ea typeface="+mn-lt"/>
                <a:cs typeface="Arial"/>
              </a:rPr>
              <a:t> </a:t>
            </a:r>
            <a:r>
              <a:rPr lang="vi-VN" err="1">
                <a:latin typeface="Arial"/>
                <a:ea typeface="+mn-lt"/>
                <a:cs typeface="Arial"/>
              </a:rPr>
              <a:t>for</a:t>
            </a:r>
            <a:r>
              <a:rPr lang="vi-VN" dirty="0">
                <a:latin typeface="Arial"/>
                <a:ea typeface="+mn-lt"/>
                <a:cs typeface="Arial"/>
              </a:rPr>
              <a:t> </a:t>
            </a:r>
            <a:r>
              <a:rPr lang="vi-VN" err="1">
                <a:latin typeface="Arial"/>
                <a:ea typeface="+mn-lt"/>
                <a:cs typeface="Arial"/>
              </a:rPr>
              <a:t>improvement</a:t>
            </a:r>
            <a:r>
              <a:rPr lang="vi-VN" dirty="0">
                <a:latin typeface="Arial"/>
                <a:ea typeface="+mn-lt"/>
                <a:cs typeface="Arial"/>
              </a:rPr>
              <a:t>. </a:t>
            </a:r>
            <a:r>
              <a:rPr lang="vi-VN" err="1">
                <a:latin typeface="Arial"/>
                <a:ea typeface="+mn-lt"/>
                <a:cs typeface="Arial"/>
              </a:rPr>
              <a:t>Enhancing</a:t>
            </a:r>
            <a:r>
              <a:rPr lang="vi-VN" dirty="0">
                <a:latin typeface="Arial"/>
                <a:ea typeface="+mn-lt"/>
                <a:cs typeface="Arial"/>
              </a:rPr>
              <a:t> </a:t>
            </a:r>
            <a:r>
              <a:rPr lang="vi-VN" err="1">
                <a:latin typeface="Arial"/>
                <a:ea typeface="+mn-lt"/>
                <a:cs typeface="Arial"/>
              </a:rPr>
              <a:t>feature</a:t>
            </a:r>
            <a:r>
              <a:rPr lang="vi-VN" dirty="0">
                <a:latin typeface="Arial"/>
                <a:ea typeface="+mn-lt"/>
                <a:cs typeface="Arial"/>
              </a:rPr>
              <a:t> </a:t>
            </a:r>
            <a:r>
              <a:rPr lang="vi-VN" err="1">
                <a:latin typeface="Arial"/>
                <a:ea typeface="+mn-lt"/>
                <a:cs typeface="Arial"/>
              </a:rPr>
              <a:t>engineering</a:t>
            </a:r>
            <a:r>
              <a:rPr lang="vi-VN" dirty="0">
                <a:latin typeface="Arial"/>
                <a:ea typeface="+mn-lt"/>
                <a:cs typeface="Arial"/>
              </a:rPr>
              <a:t>, </a:t>
            </a:r>
            <a:r>
              <a:rPr lang="vi-VN" err="1">
                <a:latin typeface="Arial"/>
                <a:ea typeface="+mn-lt"/>
                <a:cs typeface="Arial"/>
              </a:rPr>
              <a:t>tuning</a:t>
            </a:r>
            <a:r>
              <a:rPr lang="vi-VN" dirty="0">
                <a:latin typeface="Arial"/>
                <a:ea typeface="+mn-lt"/>
                <a:cs typeface="Arial"/>
              </a:rPr>
              <a:t> </a:t>
            </a:r>
            <a:r>
              <a:rPr lang="vi-VN" err="1">
                <a:latin typeface="Arial"/>
                <a:ea typeface="+mn-lt"/>
                <a:cs typeface="Arial"/>
              </a:rPr>
              <a:t>hyperparameters</a:t>
            </a:r>
            <a:r>
              <a:rPr lang="vi-VN" dirty="0">
                <a:latin typeface="Arial"/>
                <a:ea typeface="+mn-lt"/>
                <a:cs typeface="Arial"/>
              </a:rPr>
              <a:t>, </a:t>
            </a:r>
            <a:r>
              <a:rPr lang="vi-VN" err="1">
                <a:latin typeface="Arial"/>
                <a:ea typeface="+mn-lt"/>
                <a:cs typeface="Arial"/>
              </a:rPr>
              <a:t>and</a:t>
            </a:r>
            <a:r>
              <a:rPr lang="vi-VN" dirty="0">
                <a:latin typeface="Arial"/>
                <a:ea typeface="+mn-lt"/>
                <a:cs typeface="Arial"/>
              </a:rPr>
              <a:t> </a:t>
            </a:r>
            <a:r>
              <a:rPr lang="vi-VN" err="1">
                <a:latin typeface="Arial"/>
                <a:ea typeface="+mn-lt"/>
                <a:cs typeface="Arial"/>
              </a:rPr>
              <a:t>refining</a:t>
            </a:r>
            <a:r>
              <a:rPr lang="vi-VN" dirty="0">
                <a:latin typeface="Arial"/>
                <a:ea typeface="+mn-lt"/>
                <a:cs typeface="Arial"/>
              </a:rPr>
              <a:t> </a:t>
            </a:r>
            <a:r>
              <a:rPr lang="vi-VN" err="1">
                <a:latin typeface="Arial"/>
                <a:ea typeface="+mn-lt"/>
                <a:cs typeface="Arial"/>
              </a:rPr>
              <a:t>data</a:t>
            </a:r>
            <a:r>
              <a:rPr lang="vi-VN" dirty="0">
                <a:latin typeface="Arial"/>
                <a:ea typeface="+mn-lt"/>
                <a:cs typeface="Arial"/>
              </a:rPr>
              <a:t> </a:t>
            </a:r>
            <a:r>
              <a:rPr lang="vi-VN" err="1">
                <a:latin typeface="Arial"/>
                <a:ea typeface="+mn-lt"/>
                <a:cs typeface="Arial"/>
              </a:rPr>
              <a:t>preprocessing</a:t>
            </a:r>
            <a:r>
              <a:rPr lang="vi-VN" dirty="0">
                <a:latin typeface="Arial"/>
                <a:ea typeface="+mn-lt"/>
                <a:cs typeface="Arial"/>
              </a:rPr>
              <a:t> </a:t>
            </a:r>
            <a:r>
              <a:rPr lang="vi-VN" err="1">
                <a:latin typeface="Arial"/>
                <a:ea typeface="+mn-lt"/>
                <a:cs typeface="Arial"/>
              </a:rPr>
              <a:t>could</a:t>
            </a:r>
            <a:r>
              <a:rPr lang="vi-VN" dirty="0">
                <a:latin typeface="Arial"/>
                <a:ea typeface="+mn-lt"/>
                <a:cs typeface="Arial"/>
              </a:rPr>
              <a:t> </a:t>
            </a:r>
            <a:r>
              <a:rPr lang="vi-VN" err="1">
                <a:latin typeface="Arial"/>
                <a:ea typeface="+mn-lt"/>
                <a:cs typeface="Arial"/>
              </a:rPr>
              <a:t>boost</a:t>
            </a:r>
            <a:r>
              <a:rPr lang="vi-VN" dirty="0">
                <a:latin typeface="Arial"/>
                <a:ea typeface="+mn-lt"/>
                <a:cs typeface="Arial"/>
              </a:rPr>
              <a:t> </a:t>
            </a:r>
            <a:r>
              <a:rPr lang="vi-VN" err="1">
                <a:latin typeface="Arial"/>
                <a:ea typeface="+mn-lt"/>
                <a:cs typeface="Arial"/>
              </a:rPr>
              <a:t>accuracy</a:t>
            </a:r>
            <a:r>
              <a:rPr lang="vi-VN" dirty="0">
                <a:latin typeface="Arial"/>
                <a:ea typeface="+mn-lt"/>
                <a:cs typeface="Arial"/>
              </a:rPr>
              <a:t>. The </a:t>
            </a:r>
            <a:r>
              <a:rPr lang="vi-VN" err="1">
                <a:latin typeface="Arial"/>
                <a:ea typeface="+mn-lt"/>
                <a:cs typeface="Arial"/>
              </a:rPr>
              <a:t>Flask</a:t>
            </a:r>
            <a:r>
              <a:rPr lang="vi-VN" dirty="0">
                <a:latin typeface="Arial"/>
                <a:ea typeface="+mn-lt"/>
                <a:cs typeface="Arial"/>
              </a:rPr>
              <a:t> </a:t>
            </a:r>
            <a:r>
              <a:rPr lang="vi-VN" err="1">
                <a:latin typeface="Arial"/>
                <a:ea typeface="+mn-lt"/>
                <a:cs typeface="Arial"/>
              </a:rPr>
              <a:t>web</a:t>
            </a:r>
            <a:r>
              <a:rPr lang="vi-VN" dirty="0">
                <a:latin typeface="Arial"/>
                <a:ea typeface="+mn-lt"/>
                <a:cs typeface="Arial"/>
              </a:rPr>
              <a:t> </a:t>
            </a:r>
            <a:r>
              <a:rPr lang="vi-VN" err="1">
                <a:latin typeface="Arial"/>
                <a:ea typeface="+mn-lt"/>
                <a:cs typeface="Arial"/>
              </a:rPr>
              <a:t>app</a:t>
            </a:r>
            <a:r>
              <a:rPr lang="vi-VN" dirty="0">
                <a:latin typeface="Arial"/>
                <a:ea typeface="+mn-lt"/>
                <a:cs typeface="Arial"/>
              </a:rPr>
              <a:t> </a:t>
            </a:r>
            <a:r>
              <a:rPr lang="vi-VN" err="1">
                <a:latin typeface="Arial"/>
                <a:ea typeface="+mn-lt"/>
                <a:cs typeface="Arial"/>
              </a:rPr>
              <a:t>adds</a:t>
            </a:r>
            <a:r>
              <a:rPr lang="vi-VN" dirty="0">
                <a:latin typeface="Arial"/>
                <a:ea typeface="+mn-lt"/>
                <a:cs typeface="Arial"/>
              </a:rPr>
              <a:t> </a:t>
            </a:r>
            <a:r>
              <a:rPr lang="vi-VN" err="1">
                <a:latin typeface="Arial"/>
                <a:ea typeface="+mn-lt"/>
                <a:cs typeface="Arial"/>
              </a:rPr>
              <a:t>usability</a:t>
            </a:r>
            <a:r>
              <a:rPr lang="vi-VN" dirty="0">
                <a:latin typeface="Arial"/>
                <a:ea typeface="+mn-lt"/>
                <a:cs typeface="Arial"/>
              </a:rPr>
              <a:t>, </a:t>
            </a:r>
            <a:r>
              <a:rPr lang="vi-VN" err="1">
                <a:latin typeface="Arial"/>
                <a:ea typeface="+mn-lt"/>
                <a:cs typeface="Arial"/>
              </a:rPr>
              <a:t>and</a:t>
            </a:r>
            <a:r>
              <a:rPr lang="vi-VN" dirty="0">
                <a:latin typeface="Arial"/>
                <a:ea typeface="+mn-lt"/>
                <a:cs typeface="Arial"/>
              </a:rPr>
              <a:t> </a:t>
            </a:r>
            <a:r>
              <a:rPr lang="vi-VN" err="1">
                <a:latin typeface="Arial"/>
                <a:ea typeface="+mn-lt"/>
                <a:cs typeface="Arial"/>
              </a:rPr>
              <a:t>future</a:t>
            </a:r>
            <a:r>
              <a:rPr lang="vi-VN" dirty="0">
                <a:latin typeface="Arial"/>
                <a:ea typeface="+mn-lt"/>
                <a:cs typeface="Arial"/>
              </a:rPr>
              <a:t> </a:t>
            </a:r>
            <a:r>
              <a:rPr lang="vi-VN" err="1">
                <a:latin typeface="Arial"/>
                <a:ea typeface="+mn-lt"/>
                <a:cs typeface="Arial"/>
              </a:rPr>
              <a:t>improvements</a:t>
            </a:r>
            <a:r>
              <a:rPr lang="vi-VN" dirty="0">
                <a:latin typeface="Arial"/>
                <a:ea typeface="+mn-lt"/>
                <a:cs typeface="Arial"/>
              </a:rPr>
              <a:t> may </a:t>
            </a:r>
            <a:r>
              <a:rPr lang="vi-VN" err="1">
                <a:latin typeface="Arial"/>
                <a:ea typeface="+mn-lt"/>
                <a:cs typeface="Arial"/>
              </a:rPr>
              <a:t>involve</a:t>
            </a:r>
            <a:r>
              <a:rPr lang="vi-VN" dirty="0">
                <a:latin typeface="Arial"/>
                <a:ea typeface="+mn-lt"/>
                <a:cs typeface="Arial"/>
              </a:rPr>
              <a:t> </a:t>
            </a:r>
            <a:r>
              <a:rPr lang="vi-VN" err="1">
                <a:latin typeface="Arial"/>
                <a:ea typeface="+mn-lt"/>
                <a:cs typeface="Arial"/>
              </a:rPr>
              <a:t>advanced</a:t>
            </a:r>
            <a:r>
              <a:rPr lang="vi-VN" dirty="0">
                <a:latin typeface="Arial"/>
                <a:ea typeface="+mn-lt"/>
                <a:cs typeface="Arial"/>
              </a:rPr>
              <a:t> </a:t>
            </a:r>
            <a:r>
              <a:rPr lang="vi-VN" err="1">
                <a:latin typeface="Arial"/>
                <a:ea typeface="+mn-lt"/>
                <a:cs typeface="Arial"/>
              </a:rPr>
              <a:t>models</a:t>
            </a:r>
            <a:r>
              <a:rPr lang="vi-VN" dirty="0">
                <a:latin typeface="Arial"/>
                <a:ea typeface="+mn-lt"/>
                <a:cs typeface="Arial"/>
              </a:rPr>
              <a:t> </a:t>
            </a:r>
            <a:r>
              <a:rPr lang="vi-VN" err="1">
                <a:latin typeface="Arial"/>
                <a:ea typeface="+mn-lt"/>
                <a:cs typeface="Arial"/>
              </a:rPr>
              <a:t>and</a:t>
            </a:r>
            <a:r>
              <a:rPr lang="vi-VN" dirty="0">
                <a:latin typeface="Arial"/>
                <a:ea typeface="+mn-lt"/>
                <a:cs typeface="Arial"/>
              </a:rPr>
              <a:t> </a:t>
            </a:r>
            <a:r>
              <a:rPr lang="vi-VN" err="1">
                <a:latin typeface="Arial"/>
                <a:ea typeface="+mn-lt"/>
                <a:cs typeface="Arial"/>
              </a:rPr>
              <a:t>better</a:t>
            </a:r>
            <a:r>
              <a:rPr lang="vi-VN" dirty="0">
                <a:latin typeface="Arial"/>
                <a:ea typeface="+mn-lt"/>
                <a:cs typeface="Arial"/>
              </a:rPr>
              <a:t> </a:t>
            </a:r>
            <a:r>
              <a:rPr lang="vi-VN" err="1">
                <a:latin typeface="Arial"/>
                <a:ea typeface="+mn-lt"/>
                <a:cs typeface="Arial"/>
              </a:rPr>
              <a:t>training</a:t>
            </a:r>
            <a:r>
              <a:rPr lang="vi-VN" dirty="0">
                <a:latin typeface="Arial"/>
                <a:ea typeface="+mn-lt"/>
                <a:cs typeface="Arial"/>
              </a:rPr>
              <a:t> </a:t>
            </a:r>
            <a:r>
              <a:rPr lang="vi-VN" err="1">
                <a:latin typeface="Arial"/>
                <a:ea typeface="+mn-lt"/>
                <a:cs typeface="Arial"/>
              </a:rPr>
              <a:t>techniques</a:t>
            </a:r>
            <a:r>
              <a:rPr lang="vi-VN" dirty="0">
                <a:latin typeface="Arial"/>
                <a:ea typeface="+mn-lt"/>
                <a:cs typeface="Arial"/>
              </a:rPr>
              <a:t>.</a:t>
            </a:r>
            <a:endParaRPr lang="vi-VN">
              <a:latin typeface="Arial"/>
              <a:cs typeface="Arial"/>
            </a:endParaRPr>
          </a:p>
        </p:txBody>
      </p:sp>
    </p:spTree>
    <p:extLst>
      <p:ext uri="{BB962C8B-B14F-4D97-AF65-F5344CB8AC3E}">
        <p14:creationId xmlns:p14="http://schemas.microsoft.com/office/powerpoint/2010/main" val="460055500"/>
      </p:ext>
    </p:extLst>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Màn hình rộng</PresentationFormat>
  <Paragraphs>0</Paragraphs>
  <Slides>10</Slides>
  <Notes>0</Notes>
  <HiddenSlides>0</HiddenSlides>
  <MMClips>0</MMClips>
  <ScaleCrop>false</ScaleCrop>
  <HeadingPairs>
    <vt:vector size="4" baseType="variant">
      <vt:variant>
        <vt:lpstr>Chủ đề</vt:lpstr>
      </vt:variant>
      <vt:variant>
        <vt:i4>1</vt:i4>
      </vt:variant>
      <vt:variant>
        <vt:lpstr>Tiêu đề Bản chiếu</vt:lpstr>
      </vt:variant>
      <vt:variant>
        <vt:i4>10</vt:i4>
      </vt:variant>
    </vt:vector>
  </HeadingPairs>
  <TitlesOfParts>
    <vt:vector size="11" baseType="lpstr">
      <vt:lpstr>DylanVTI</vt:lpstr>
      <vt:lpstr>Housing Price Prediction</vt:lpstr>
      <vt:lpstr>Dataset and Data Preprocessing </vt:lpstr>
      <vt:lpstr>Exploratory Data Analysis  Box plot is a method for graphically depicting groups of numerical data through their quartiles. Box plots may also have lines extending from the boxes (whiskers) indicating variability outside the upper and lower quartiles, hence the terms box-and-whisker plot. Outliers may be plotted as individual points. The spacings between the different parts of the box indicate the degree of dispersion (spread).    -We can see that the price tends to go  up when the house has more bedrooms    -Waterfront houses tends to have a better price value.   -Grade and waterfront effect price. View seem to  effect less but it also has an effect on price.  </vt:lpstr>
      <vt:lpstr>Exploratory Data Analysis </vt:lpstr>
      <vt:lpstr>Model Architecture </vt:lpstr>
      <vt:lpstr>Model Training &amp; Evaluation </vt:lpstr>
      <vt:lpstr>Comparing the model predictions with a perfect fit.</vt:lpstr>
      <vt:lpstr>Flask Web Application </vt:lpstr>
      <vt:lpstr>Predict on a brand new house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314</cp:revision>
  <dcterms:created xsi:type="dcterms:W3CDTF">2025-03-24T15:48:01Z</dcterms:created>
  <dcterms:modified xsi:type="dcterms:W3CDTF">2025-03-31T06:47:25Z</dcterms:modified>
</cp:coreProperties>
</file>